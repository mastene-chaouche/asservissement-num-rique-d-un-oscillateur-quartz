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Canva Sans" charset="1" panose="020B0503030501040103"/>
      <p:regular r:id="rId32"/>
    </p:embeddedFont>
    <p:embeddedFont>
      <p:font typeface="Hero Bold" charset="1" panose="00000500000000000000"/>
      <p:regular r:id="rId33"/>
    </p:embeddedFont>
    <p:embeddedFont>
      <p:font typeface="Poppins" charset="1" panose="00000500000000000000"/>
      <p:regular r:id="rId34"/>
    </p:embeddedFont>
    <p:embeddedFont>
      <p:font typeface="Poppins Bold" charset="1" panose="00000800000000000000"/>
      <p:regular r:id="rId35"/>
    </p:embeddedFont>
    <p:embeddedFont>
      <p:font typeface="Poppins Italics" charset="1" panose="000005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15137" y="8080011"/>
            <a:ext cx="4455310" cy="1367043"/>
            <a:chOff x="0" y="0"/>
            <a:chExt cx="1173415" cy="3600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3415" cy="360044"/>
            </a:xfrm>
            <a:custGeom>
              <a:avLst/>
              <a:gdLst/>
              <a:ahLst/>
              <a:cxnLst/>
              <a:rect r="r" b="b" t="t" l="l"/>
              <a:pathLst>
                <a:path h="360044" w="1173415">
                  <a:moveTo>
                    <a:pt x="86884" y="0"/>
                  </a:moveTo>
                  <a:lnTo>
                    <a:pt x="1086531" y="0"/>
                  </a:lnTo>
                  <a:cubicBezTo>
                    <a:pt x="1134516" y="0"/>
                    <a:pt x="1173415" y="38899"/>
                    <a:pt x="1173415" y="86884"/>
                  </a:cubicBezTo>
                  <a:lnTo>
                    <a:pt x="1173415" y="273160"/>
                  </a:lnTo>
                  <a:cubicBezTo>
                    <a:pt x="1173415" y="321145"/>
                    <a:pt x="1134516" y="360044"/>
                    <a:pt x="1086531" y="360044"/>
                  </a:cubicBezTo>
                  <a:lnTo>
                    <a:pt x="86884" y="360044"/>
                  </a:lnTo>
                  <a:cubicBezTo>
                    <a:pt x="38899" y="360044"/>
                    <a:pt x="0" y="321145"/>
                    <a:pt x="0" y="273160"/>
                  </a:cubicBezTo>
                  <a:lnTo>
                    <a:pt x="0" y="86884"/>
                  </a:lnTo>
                  <a:cubicBezTo>
                    <a:pt x="0" y="38899"/>
                    <a:pt x="38899" y="0"/>
                    <a:pt x="8688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3415" cy="398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D2D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supervised by :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D2D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Pr. Jean Michel Friedt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D2D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Pr. Emile Carry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477552" y="1028700"/>
            <a:ext cx="1332896" cy="1342661"/>
          </a:xfrm>
          <a:custGeom>
            <a:avLst/>
            <a:gdLst/>
            <a:ahLst/>
            <a:cxnLst/>
            <a:rect r="r" b="b" t="t" l="l"/>
            <a:pathLst>
              <a:path h="1342661" w="1332896">
                <a:moveTo>
                  <a:pt x="0" y="0"/>
                </a:moveTo>
                <a:lnTo>
                  <a:pt x="1332896" y="0"/>
                </a:lnTo>
                <a:lnTo>
                  <a:pt x="1332896" y="1342661"/>
                </a:lnTo>
                <a:lnTo>
                  <a:pt x="0" y="1342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93486" y="2509115"/>
            <a:ext cx="15501029" cy="1979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8"/>
              </a:lnSpc>
            </a:pPr>
            <a:r>
              <a:rPr lang="en-US" sz="5698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 GPS DISCIPLINED QUARTZ OSCILLATOR</a:t>
            </a:r>
          </a:p>
          <a:p>
            <a:pPr algn="ctr">
              <a:lnSpc>
                <a:spcPts val="7978"/>
              </a:lnSpc>
              <a:spcBef>
                <a:spcPct val="0"/>
              </a:spcBef>
            </a:pPr>
            <a:r>
              <a:rPr lang="en-US" sz="5698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GPSDO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7247" y="4898475"/>
            <a:ext cx="3281753" cy="393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presented by : </a:t>
            </a:r>
          </a:p>
          <a:p>
            <a:pPr algn="l">
              <a:lnSpc>
                <a:spcPts val="3148"/>
              </a:lnSpc>
            </a:pP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HEROUMI Yani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NEGRECHE Aaron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ATMANI Aymene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CHAOUCHE Mastene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BELAIDI Katia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ATAMNIA Mondher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314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306464" y="52601"/>
            <a:ext cx="11675071" cy="68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5"/>
              </a:lnSpc>
              <a:spcBef>
                <a:spcPct val="0"/>
              </a:spcBef>
            </a:pPr>
            <a:r>
              <a:rPr lang="en-US" sz="3932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UNIVERSITY OF MARIE AND LOUIS PASTEUR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502371" y="9062393"/>
            <a:ext cx="4156449" cy="769322"/>
            <a:chOff x="0" y="0"/>
            <a:chExt cx="1094703" cy="2026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4703" cy="202620"/>
            </a:xfrm>
            <a:custGeom>
              <a:avLst/>
              <a:gdLst/>
              <a:ahLst/>
              <a:cxnLst/>
              <a:rect r="r" b="b" t="t" l="l"/>
              <a:pathLst>
                <a:path h="202620" w="1094703">
                  <a:moveTo>
                    <a:pt x="93131" y="0"/>
                  </a:moveTo>
                  <a:lnTo>
                    <a:pt x="1001571" y="0"/>
                  </a:lnTo>
                  <a:cubicBezTo>
                    <a:pt x="1026271" y="0"/>
                    <a:pt x="1049960" y="9812"/>
                    <a:pt x="1067425" y="27278"/>
                  </a:cubicBezTo>
                  <a:cubicBezTo>
                    <a:pt x="1084891" y="44743"/>
                    <a:pt x="1094703" y="68431"/>
                    <a:pt x="1094703" y="93131"/>
                  </a:cubicBezTo>
                  <a:lnTo>
                    <a:pt x="1094703" y="109488"/>
                  </a:lnTo>
                  <a:cubicBezTo>
                    <a:pt x="1094703" y="134188"/>
                    <a:pt x="1084891" y="157877"/>
                    <a:pt x="1067425" y="175342"/>
                  </a:cubicBezTo>
                  <a:cubicBezTo>
                    <a:pt x="1049960" y="192808"/>
                    <a:pt x="1026271" y="202620"/>
                    <a:pt x="1001571" y="202620"/>
                  </a:cubicBezTo>
                  <a:lnTo>
                    <a:pt x="93131" y="202620"/>
                  </a:lnTo>
                  <a:cubicBezTo>
                    <a:pt x="68431" y="202620"/>
                    <a:pt x="44743" y="192808"/>
                    <a:pt x="27278" y="175342"/>
                  </a:cubicBezTo>
                  <a:cubicBezTo>
                    <a:pt x="9812" y="157877"/>
                    <a:pt x="0" y="134188"/>
                    <a:pt x="0" y="109488"/>
                  </a:cubicBezTo>
                  <a:lnTo>
                    <a:pt x="0" y="93131"/>
                  </a:lnTo>
                  <a:cubicBezTo>
                    <a:pt x="0" y="68431"/>
                    <a:pt x="9812" y="44743"/>
                    <a:pt x="27278" y="27278"/>
                  </a:cubicBezTo>
                  <a:cubicBezTo>
                    <a:pt x="44743" y="9812"/>
                    <a:pt x="68431" y="0"/>
                    <a:pt x="931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4703" cy="240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D2D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Academic  :  2025/2026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339950" y="4659885"/>
            <a:ext cx="7367585" cy="165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</a:pPr>
            <a:r>
              <a:rPr lang="en-US" sz="3136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ATCE PROJECT</a:t>
            </a:r>
          </a:p>
          <a:p>
            <a:pPr algn="ctr">
              <a:lnSpc>
                <a:spcPts val="4391"/>
              </a:lnSpc>
            </a:pPr>
          </a:p>
          <a:p>
            <a:pPr algn="ctr">
              <a:lnSpc>
                <a:spcPts val="43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6005" y="5520982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9" y="0"/>
                </a:lnTo>
                <a:lnTo>
                  <a:pt x="703699" y="703699"/>
                </a:lnTo>
                <a:lnTo>
                  <a:pt x="0" y="703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83751" y="1028700"/>
            <a:ext cx="9375549" cy="4540483"/>
            <a:chOff x="0" y="0"/>
            <a:chExt cx="2091261" cy="1012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1261" cy="1012777"/>
            </a:xfrm>
            <a:custGeom>
              <a:avLst/>
              <a:gdLst/>
              <a:ahLst/>
              <a:cxnLst/>
              <a:rect r="r" b="b" t="t" l="l"/>
              <a:pathLst>
                <a:path h="1012777" w="2091261">
                  <a:moveTo>
                    <a:pt x="24773" y="0"/>
                  </a:moveTo>
                  <a:lnTo>
                    <a:pt x="2066489" y="0"/>
                  </a:lnTo>
                  <a:cubicBezTo>
                    <a:pt x="2073059" y="0"/>
                    <a:pt x="2079360" y="2610"/>
                    <a:pt x="2084006" y="7256"/>
                  </a:cubicBezTo>
                  <a:cubicBezTo>
                    <a:pt x="2088651" y="11902"/>
                    <a:pt x="2091261" y="18203"/>
                    <a:pt x="2091261" y="24773"/>
                  </a:cubicBezTo>
                  <a:lnTo>
                    <a:pt x="2091261" y="988004"/>
                  </a:lnTo>
                  <a:cubicBezTo>
                    <a:pt x="2091261" y="994574"/>
                    <a:pt x="2088651" y="1000875"/>
                    <a:pt x="2084006" y="1005521"/>
                  </a:cubicBezTo>
                  <a:cubicBezTo>
                    <a:pt x="2079360" y="1010167"/>
                    <a:pt x="2073059" y="1012777"/>
                    <a:pt x="2066489" y="1012777"/>
                  </a:cubicBezTo>
                  <a:lnTo>
                    <a:pt x="24773" y="1012777"/>
                  </a:lnTo>
                  <a:cubicBezTo>
                    <a:pt x="18203" y="1012777"/>
                    <a:pt x="11902" y="1010167"/>
                    <a:pt x="7256" y="1005521"/>
                  </a:cubicBezTo>
                  <a:cubicBezTo>
                    <a:pt x="2610" y="1000875"/>
                    <a:pt x="0" y="994574"/>
                    <a:pt x="0" y="988004"/>
                  </a:cubicBezTo>
                  <a:lnTo>
                    <a:pt x="0" y="24773"/>
                  </a:lnTo>
                  <a:cubicBezTo>
                    <a:pt x="0" y="18203"/>
                    <a:pt x="2610" y="11902"/>
                    <a:pt x="7256" y="7256"/>
                  </a:cubicBezTo>
                  <a:cubicBezTo>
                    <a:pt x="11902" y="2610"/>
                    <a:pt x="18203" y="0"/>
                    <a:pt x="2477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042" r="0" b="-704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828701" y="6083533"/>
            <a:ext cx="4430599" cy="3174767"/>
            <a:chOff x="0" y="0"/>
            <a:chExt cx="988266" cy="7081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8267" cy="708147"/>
            </a:xfrm>
            <a:custGeom>
              <a:avLst/>
              <a:gdLst/>
              <a:ahLst/>
              <a:cxnLst/>
              <a:rect r="r" b="b" t="t" l="l"/>
              <a:pathLst>
                <a:path h="708147" w="988267">
                  <a:moveTo>
                    <a:pt x="52421" y="0"/>
                  </a:moveTo>
                  <a:lnTo>
                    <a:pt x="935845" y="0"/>
                  </a:lnTo>
                  <a:cubicBezTo>
                    <a:pt x="949748" y="0"/>
                    <a:pt x="963082" y="5523"/>
                    <a:pt x="972913" y="15354"/>
                  </a:cubicBezTo>
                  <a:cubicBezTo>
                    <a:pt x="982744" y="25185"/>
                    <a:pt x="988267" y="38518"/>
                    <a:pt x="988267" y="52421"/>
                  </a:cubicBezTo>
                  <a:lnTo>
                    <a:pt x="988267" y="655726"/>
                  </a:lnTo>
                  <a:cubicBezTo>
                    <a:pt x="988267" y="669629"/>
                    <a:pt x="982744" y="682962"/>
                    <a:pt x="972913" y="692793"/>
                  </a:cubicBezTo>
                  <a:cubicBezTo>
                    <a:pt x="963082" y="702624"/>
                    <a:pt x="949748" y="708147"/>
                    <a:pt x="935845" y="708147"/>
                  </a:cubicBezTo>
                  <a:lnTo>
                    <a:pt x="52421" y="708147"/>
                  </a:lnTo>
                  <a:cubicBezTo>
                    <a:pt x="38518" y="708147"/>
                    <a:pt x="25185" y="702624"/>
                    <a:pt x="15354" y="692793"/>
                  </a:cubicBezTo>
                  <a:cubicBezTo>
                    <a:pt x="5523" y="682962"/>
                    <a:pt x="0" y="669629"/>
                    <a:pt x="0" y="655726"/>
                  </a:cubicBezTo>
                  <a:lnTo>
                    <a:pt x="0" y="52421"/>
                  </a:lnTo>
                  <a:cubicBezTo>
                    <a:pt x="0" y="38518"/>
                    <a:pt x="5523" y="25185"/>
                    <a:pt x="15354" y="15354"/>
                  </a:cubicBezTo>
                  <a:cubicBezTo>
                    <a:pt x="25185" y="5523"/>
                    <a:pt x="38518" y="0"/>
                    <a:pt x="52421" y="0"/>
                  </a:cubicBezTo>
                  <a:close/>
                </a:path>
              </a:pathLst>
            </a:custGeom>
            <a:blipFill>
              <a:blip r:embed="rId5"/>
              <a:stretch>
                <a:fillRect l="-21655" t="0" r="-21655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883751" y="6083533"/>
            <a:ext cx="4430599" cy="3174767"/>
            <a:chOff x="0" y="0"/>
            <a:chExt cx="988266" cy="7081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8267" cy="708147"/>
            </a:xfrm>
            <a:custGeom>
              <a:avLst/>
              <a:gdLst/>
              <a:ahLst/>
              <a:cxnLst/>
              <a:rect r="r" b="b" t="t" l="l"/>
              <a:pathLst>
                <a:path h="708147" w="988267">
                  <a:moveTo>
                    <a:pt x="52421" y="0"/>
                  </a:moveTo>
                  <a:lnTo>
                    <a:pt x="935845" y="0"/>
                  </a:lnTo>
                  <a:cubicBezTo>
                    <a:pt x="949748" y="0"/>
                    <a:pt x="963082" y="5523"/>
                    <a:pt x="972913" y="15354"/>
                  </a:cubicBezTo>
                  <a:cubicBezTo>
                    <a:pt x="982744" y="25185"/>
                    <a:pt x="988267" y="38518"/>
                    <a:pt x="988267" y="52421"/>
                  </a:cubicBezTo>
                  <a:lnTo>
                    <a:pt x="988267" y="655726"/>
                  </a:lnTo>
                  <a:cubicBezTo>
                    <a:pt x="988267" y="669629"/>
                    <a:pt x="982744" y="682962"/>
                    <a:pt x="972913" y="692793"/>
                  </a:cubicBezTo>
                  <a:cubicBezTo>
                    <a:pt x="963082" y="702624"/>
                    <a:pt x="949748" y="708147"/>
                    <a:pt x="935845" y="708147"/>
                  </a:cubicBezTo>
                  <a:lnTo>
                    <a:pt x="52421" y="708147"/>
                  </a:lnTo>
                  <a:cubicBezTo>
                    <a:pt x="38518" y="708147"/>
                    <a:pt x="25185" y="702624"/>
                    <a:pt x="15354" y="692793"/>
                  </a:cubicBezTo>
                  <a:cubicBezTo>
                    <a:pt x="5523" y="682962"/>
                    <a:pt x="0" y="669629"/>
                    <a:pt x="0" y="655726"/>
                  </a:cubicBezTo>
                  <a:lnTo>
                    <a:pt x="0" y="52421"/>
                  </a:lnTo>
                  <a:cubicBezTo>
                    <a:pt x="0" y="38518"/>
                    <a:pt x="5523" y="25185"/>
                    <a:pt x="15354" y="15354"/>
                  </a:cubicBezTo>
                  <a:cubicBezTo>
                    <a:pt x="25185" y="5523"/>
                    <a:pt x="38518" y="0"/>
                    <a:pt x="52421" y="0"/>
                  </a:cubicBezTo>
                  <a:close/>
                </a:path>
              </a:pathLst>
            </a:custGeom>
            <a:blipFill>
              <a:blip r:embed="rId6"/>
              <a:stretch>
                <a:fillRect l="-3741" t="0" r="-374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001000" y="4000500"/>
            <a:ext cx="2286000" cy="2286000"/>
            <a:chOff x="0" y="0"/>
            <a:chExt cx="3048000" cy="3048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48000" cy="2946400"/>
            </a:xfrm>
            <a:custGeom>
              <a:avLst/>
              <a:gdLst/>
              <a:ahLst/>
              <a:cxnLst/>
              <a:rect r="r" b="b" t="t" l="l"/>
              <a:pathLst>
                <a:path h="29464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2946400"/>
                  </a:moveTo>
                  <a:lnTo>
                    <a:pt x="3048000" y="2946400"/>
                  </a:lnTo>
                  <a:lnTo>
                    <a:pt x="2921000" y="3048000"/>
                  </a:lnTo>
                  <a:cubicBezTo>
                    <a:pt x="2921000" y="3048000"/>
                    <a:pt x="1930400" y="2971800"/>
                    <a:pt x="1828800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3048000" y="0"/>
                  </a:lnTo>
                  <a:lnTo>
                    <a:pt x="3048000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3035300" y="2933700"/>
                  </a:lnTo>
                  <a:lnTo>
                    <a:pt x="3035300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048000" cy="2527300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769331"/>
            <a:ext cx="6855051" cy="128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4961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WHY DO WE NEED A GPSDO 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555925"/>
            <a:ext cx="634915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699366"/>
            <a:ext cx="5826351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GPS provides a very accurate pulse every second: the 1 PPS signal (±100 ns). → The quartz ensures short-term stability → GPS ensures long-term accuracy → By combining both, we obtain a frequency source that is stable across all time scales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558832"/>
            <a:ext cx="6349155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However, its frequency drifts with temperature (±800 Hz at 16 MHz), aging (~5 ppm/year), and mechanical vibrations. The ideal solution would be an oven-controlled oscillator (OCXO), but its cost is too high for our application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0247" y="6205631"/>
            <a:ext cx="634915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Our approche : The GPSDO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298" y="2536875"/>
            <a:ext cx="634915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D2D2D"/>
                </a:solidFill>
                <a:latin typeface="Canva Sans"/>
                <a:ea typeface="Canva Sans"/>
                <a:cs typeface="Canva Sans"/>
                <a:sym typeface="Canva Sans"/>
              </a:rPr>
              <a:t>Quartz is widely used in electronics because it is accurate, small, and inexpensive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55602" y="1028700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548800" y="3177858"/>
            <a:ext cx="5653443" cy="4786205"/>
            <a:chOff x="0" y="0"/>
            <a:chExt cx="1626625" cy="13771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6625" cy="1377101"/>
            </a:xfrm>
            <a:custGeom>
              <a:avLst/>
              <a:gdLst/>
              <a:ahLst/>
              <a:cxnLst/>
              <a:rect r="r" b="b" t="t" l="l"/>
              <a:pathLst>
                <a:path h="1377101" w="1626625">
                  <a:moveTo>
                    <a:pt x="41083" y="0"/>
                  </a:moveTo>
                  <a:lnTo>
                    <a:pt x="1585543" y="0"/>
                  </a:lnTo>
                  <a:cubicBezTo>
                    <a:pt x="1608232" y="0"/>
                    <a:pt x="1626625" y="18393"/>
                    <a:pt x="1626625" y="41083"/>
                  </a:cubicBezTo>
                  <a:lnTo>
                    <a:pt x="1626625" y="1336018"/>
                  </a:lnTo>
                  <a:cubicBezTo>
                    <a:pt x="1626625" y="1346914"/>
                    <a:pt x="1622297" y="1357364"/>
                    <a:pt x="1614593" y="1365068"/>
                  </a:cubicBezTo>
                  <a:cubicBezTo>
                    <a:pt x="1606888" y="1372773"/>
                    <a:pt x="1596439" y="1377101"/>
                    <a:pt x="1585543" y="1377101"/>
                  </a:cubicBezTo>
                  <a:lnTo>
                    <a:pt x="41083" y="1377101"/>
                  </a:lnTo>
                  <a:cubicBezTo>
                    <a:pt x="30187" y="1377101"/>
                    <a:pt x="19737" y="1372773"/>
                    <a:pt x="12033" y="1365068"/>
                  </a:cubicBezTo>
                  <a:cubicBezTo>
                    <a:pt x="4328" y="1357364"/>
                    <a:pt x="0" y="1346914"/>
                    <a:pt x="0" y="1336018"/>
                  </a:cubicBezTo>
                  <a:lnTo>
                    <a:pt x="0" y="41083"/>
                  </a:lnTo>
                  <a:cubicBezTo>
                    <a:pt x="0" y="30187"/>
                    <a:pt x="4328" y="19737"/>
                    <a:pt x="12033" y="12033"/>
                  </a:cubicBezTo>
                  <a:cubicBezTo>
                    <a:pt x="19737" y="4328"/>
                    <a:pt x="30187" y="0"/>
                    <a:pt x="41083" y="0"/>
                  </a:cubicBezTo>
                  <a:close/>
                </a:path>
              </a:pathLst>
            </a:custGeom>
            <a:blipFill>
              <a:blip r:embed="rId4"/>
              <a:stretch>
                <a:fillRect l="-10891" t="0" r="-1089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85159" y="778422"/>
            <a:ext cx="10495329" cy="79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3"/>
              </a:lnSpc>
            </a:pPr>
            <a:r>
              <a:rPr lang="en-US" sz="5983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54317"/>
            <a:ext cx="37406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358091"/>
            <a:ext cx="5247665" cy="2713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1 — Theoritical Analysis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2 — Schematic Design(KiCAD)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3 — Componenets (BOM)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4 — SPICE Simulation (ngSPICE)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5 — Octave Modelisation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6 — Routing PCB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7 — CMS Soldering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8 — ATmega32U4 Programming</a:t>
            </a:r>
          </a:p>
          <a:p>
            <a:pPr algn="l">
              <a:lnSpc>
                <a:spcPts val="2361"/>
              </a:lnSpc>
              <a:spcBef>
                <a:spcPct val="0"/>
              </a:spcBef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82533"/>
            <a:ext cx="4667173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i="true">
                <a:solidFill>
                  <a:srgbClr val="2D2D2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In this project, we will cover many concepts acquired this year: automatic control and PID regulation, analog circuits, radio frequencies, and C programming.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66109" y="1145541"/>
            <a:ext cx="4693191" cy="2846623"/>
            <a:chOff x="0" y="0"/>
            <a:chExt cx="1046839" cy="634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6839" cy="634953"/>
            </a:xfrm>
            <a:custGeom>
              <a:avLst/>
              <a:gdLst/>
              <a:ahLst/>
              <a:cxnLst/>
              <a:rect r="r" b="b" t="t" l="l"/>
              <a:pathLst>
                <a:path h="634953" w="1046839">
                  <a:moveTo>
                    <a:pt x="49488" y="0"/>
                  </a:moveTo>
                  <a:lnTo>
                    <a:pt x="997351" y="0"/>
                  </a:lnTo>
                  <a:cubicBezTo>
                    <a:pt x="1024682" y="0"/>
                    <a:pt x="1046839" y="22157"/>
                    <a:pt x="1046839" y="49488"/>
                  </a:cubicBezTo>
                  <a:lnTo>
                    <a:pt x="1046839" y="585465"/>
                  </a:lnTo>
                  <a:cubicBezTo>
                    <a:pt x="1046839" y="612796"/>
                    <a:pt x="1024682" y="634953"/>
                    <a:pt x="997351" y="634953"/>
                  </a:cubicBezTo>
                  <a:lnTo>
                    <a:pt x="49488" y="634953"/>
                  </a:lnTo>
                  <a:cubicBezTo>
                    <a:pt x="22157" y="634953"/>
                    <a:pt x="0" y="612796"/>
                    <a:pt x="0" y="585465"/>
                  </a:cubicBezTo>
                  <a:lnTo>
                    <a:pt x="0" y="49488"/>
                  </a:lnTo>
                  <a:cubicBezTo>
                    <a:pt x="0" y="22157"/>
                    <a:pt x="22157" y="0"/>
                    <a:pt x="4948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067" r="0" b="-606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214260" y="7344218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9"/>
                </a:lnTo>
                <a:lnTo>
                  <a:pt x="0" y="7036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0766" y="6133835"/>
            <a:ext cx="6551484" cy="3124465"/>
            <a:chOff x="0" y="0"/>
            <a:chExt cx="1461340" cy="6969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1340" cy="696927"/>
            </a:xfrm>
            <a:custGeom>
              <a:avLst/>
              <a:gdLst/>
              <a:ahLst/>
              <a:cxnLst/>
              <a:rect r="r" b="b" t="t" l="l"/>
              <a:pathLst>
                <a:path h="696927" w="1461340">
                  <a:moveTo>
                    <a:pt x="35451" y="0"/>
                  </a:moveTo>
                  <a:lnTo>
                    <a:pt x="1425889" y="0"/>
                  </a:lnTo>
                  <a:cubicBezTo>
                    <a:pt x="1435291" y="0"/>
                    <a:pt x="1444308" y="3735"/>
                    <a:pt x="1450957" y="10383"/>
                  </a:cubicBezTo>
                  <a:cubicBezTo>
                    <a:pt x="1457605" y="17032"/>
                    <a:pt x="1461340" y="26049"/>
                    <a:pt x="1461340" y="35451"/>
                  </a:cubicBezTo>
                  <a:lnTo>
                    <a:pt x="1461340" y="661476"/>
                  </a:lnTo>
                  <a:cubicBezTo>
                    <a:pt x="1461340" y="670878"/>
                    <a:pt x="1457605" y="679895"/>
                    <a:pt x="1450957" y="686544"/>
                  </a:cubicBezTo>
                  <a:cubicBezTo>
                    <a:pt x="1444308" y="693192"/>
                    <a:pt x="1435291" y="696927"/>
                    <a:pt x="1425889" y="696927"/>
                  </a:cubicBezTo>
                  <a:lnTo>
                    <a:pt x="35451" y="696927"/>
                  </a:lnTo>
                  <a:cubicBezTo>
                    <a:pt x="26049" y="696927"/>
                    <a:pt x="17032" y="693192"/>
                    <a:pt x="10383" y="686544"/>
                  </a:cubicBezTo>
                  <a:cubicBezTo>
                    <a:pt x="3735" y="679895"/>
                    <a:pt x="0" y="670878"/>
                    <a:pt x="0" y="661476"/>
                  </a:cubicBezTo>
                  <a:lnTo>
                    <a:pt x="0" y="35451"/>
                  </a:lnTo>
                  <a:cubicBezTo>
                    <a:pt x="0" y="26049"/>
                    <a:pt x="3735" y="17032"/>
                    <a:pt x="10383" y="10383"/>
                  </a:cubicBezTo>
                  <a:cubicBezTo>
                    <a:pt x="17032" y="3735"/>
                    <a:pt x="26049" y="0"/>
                    <a:pt x="35451" y="0"/>
                  </a:cubicBezTo>
                  <a:close/>
                </a:path>
              </a:pathLst>
            </a:custGeom>
            <a:blipFill>
              <a:blip r:embed="rId5"/>
              <a:stretch>
                <a:fillRect l="-207" t="0" r="-20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973016" y="5390885"/>
            <a:ext cx="421475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Theoritical Analysis — Howd does it work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848" y="664692"/>
            <a:ext cx="10257922" cy="332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52"/>
              </a:lnSpc>
            </a:pPr>
            <a:r>
              <a:rPr lang="en-US" sz="12952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 CIRCUIT LOGIC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62250" y="6315075"/>
            <a:ext cx="4839558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LThe quartz is electrically modeled by the Butterworth-Van Dyke (BVD) equivalent circuit — it behaves like a highly accurate RLC circuit with a quality factor Q between 30,000 and 60,000.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To correct its frequency, we use a varicap: a diode whose capacitance changes with the applied voltage. capacitance ↑ → frequency ↓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249580" y="7134093"/>
            <a:ext cx="4628792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The microcontroller counts the quartz oscillations between two GPS pulses (1 PPS) to measure its exact frequency, then corrects it via a PI controller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96621" y="8554602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9" y="0"/>
                </a:lnTo>
                <a:lnTo>
                  <a:pt x="703699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7430"/>
            <a:ext cx="7671508" cy="6528410"/>
            <a:chOff x="0" y="0"/>
            <a:chExt cx="1711167" cy="14561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1167" cy="1456193"/>
            </a:xfrm>
            <a:custGeom>
              <a:avLst/>
              <a:gdLst/>
              <a:ahLst/>
              <a:cxnLst/>
              <a:rect r="r" b="b" t="t" l="l"/>
              <a:pathLst>
                <a:path h="1456193" w="1711167">
                  <a:moveTo>
                    <a:pt x="30275" y="0"/>
                  </a:moveTo>
                  <a:lnTo>
                    <a:pt x="1680892" y="0"/>
                  </a:lnTo>
                  <a:cubicBezTo>
                    <a:pt x="1688921" y="0"/>
                    <a:pt x="1696622" y="3190"/>
                    <a:pt x="1702299" y="8867"/>
                  </a:cubicBezTo>
                  <a:cubicBezTo>
                    <a:pt x="1707977" y="14545"/>
                    <a:pt x="1711167" y="22246"/>
                    <a:pt x="1711167" y="30275"/>
                  </a:cubicBezTo>
                  <a:lnTo>
                    <a:pt x="1711167" y="1425918"/>
                  </a:lnTo>
                  <a:cubicBezTo>
                    <a:pt x="1711167" y="1433947"/>
                    <a:pt x="1707977" y="1441648"/>
                    <a:pt x="1702299" y="1447326"/>
                  </a:cubicBezTo>
                  <a:cubicBezTo>
                    <a:pt x="1696622" y="1453004"/>
                    <a:pt x="1688921" y="1456193"/>
                    <a:pt x="1680892" y="1456193"/>
                  </a:cubicBezTo>
                  <a:lnTo>
                    <a:pt x="30275" y="1456193"/>
                  </a:lnTo>
                  <a:cubicBezTo>
                    <a:pt x="22246" y="1456193"/>
                    <a:pt x="14545" y="1453004"/>
                    <a:pt x="8867" y="1447326"/>
                  </a:cubicBezTo>
                  <a:cubicBezTo>
                    <a:pt x="3190" y="1441648"/>
                    <a:pt x="0" y="1433947"/>
                    <a:pt x="0" y="1425918"/>
                  </a:cubicBezTo>
                  <a:lnTo>
                    <a:pt x="0" y="30275"/>
                  </a:lnTo>
                  <a:cubicBezTo>
                    <a:pt x="0" y="22246"/>
                    <a:pt x="3190" y="14545"/>
                    <a:pt x="8867" y="8867"/>
                  </a:cubicBezTo>
                  <a:cubicBezTo>
                    <a:pt x="14545" y="3190"/>
                    <a:pt x="22246" y="0"/>
                    <a:pt x="30275" y="0"/>
                  </a:cubicBezTo>
                  <a:close/>
                </a:path>
              </a:pathLst>
            </a:custGeom>
            <a:blipFill>
              <a:blip r:embed="rId4"/>
              <a:stretch>
                <a:fillRect l="-5134" t="0" r="-5134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34323" y="7770127"/>
            <a:ext cx="9862298" cy="1605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4"/>
              </a:lnSpc>
            </a:pPr>
            <a:r>
              <a:rPr lang="en-US" sz="6224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SYSTEM ARCHITECTURE &amp; KICAD 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90998" y="1348410"/>
            <a:ext cx="636830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Diagramme bloc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90998" y="1748460"/>
            <a:ext cx="452795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The microcontroller is the basis of the system 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Recieves the  1 PPS  GPS signal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Mesure the  fréquency over the Input Capture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Correct via the  PI controller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Commande  the  varicap via the filtered PWM 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890998" y="3843960"/>
            <a:ext cx="636830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KiCAD Schematic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90998" y="4244010"/>
            <a:ext cx="6368302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Designed in KiCAD — the schematic includes: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the RC  filter+ buffer 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Decoupling capacitor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The varicap biasing T-network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796621" y="6080218"/>
            <a:ext cx="636830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PCB Routing  &amp; components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96621" y="6479515"/>
            <a:ext cx="6368302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Rules respected during the routing 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Quartz must be as close as possible to the MCU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Ground plane on the bottom layer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8061" y="4933392"/>
            <a:ext cx="8261589" cy="4324908"/>
            <a:chOff x="0" y="0"/>
            <a:chExt cx="1842787" cy="9646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2787" cy="964691"/>
            </a:xfrm>
            <a:custGeom>
              <a:avLst/>
              <a:gdLst/>
              <a:ahLst/>
              <a:cxnLst/>
              <a:rect r="r" b="b" t="t" l="l"/>
              <a:pathLst>
                <a:path h="964691" w="1842787">
                  <a:moveTo>
                    <a:pt x="28113" y="0"/>
                  </a:moveTo>
                  <a:lnTo>
                    <a:pt x="1814674" y="0"/>
                  </a:lnTo>
                  <a:cubicBezTo>
                    <a:pt x="1822130" y="0"/>
                    <a:pt x="1829281" y="2962"/>
                    <a:pt x="1834553" y="8234"/>
                  </a:cubicBezTo>
                  <a:cubicBezTo>
                    <a:pt x="1839825" y="13506"/>
                    <a:pt x="1842787" y="20657"/>
                    <a:pt x="1842787" y="28113"/>
                  </a:cubicBezTo>
                  <a:lnTo>
                    <a:pt x="1842787" y="936578"/>
                  </a:lnTo>
                  <a:cubicBezTo>
                    <a:pt x="1842787" y="952105"/>
                    <a:pt x="1830200" y="964691"/>
                    <a:pt x="1814674" y="964691"/>
                  </a:cubicBezTo>
                  <a:lnTo>
                    <a:pt x="28113" y="964691"/>
                  </a:lnTo>
                  <a:cubicBezTo>
                    <a:pt x="12587" y="964691"/>
                    <a:pt x="0" y="952105"/>
                    <a:pt x="0" y="936578"/>
                  </a:cubicBezTo>
                  <a:lnTo>
                    <a:pt x="0" y="28113"/>
                  </a:lnTo>
                  <a:cubicBezTo>
                    <a:pt x="0" y="12587"/>
                    <a:pt x="12587" y="0"/>
                    <a:pt x="2811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322" r="0" b="-432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58350" y="2481200"/>
            <a:ext cx="7600950" cy="4136271"/>
            <a:chOff x="0" y="0"/>
            <a:chExt cx="1695428" cy="9226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5428" cy="922615"/>
            </a:xfrm>
            <a:custGeom>
              <a:avLst/>
              <a:gdLst/>
              <a:ahLst/>
              <a:cxnLst/>
              <a:rect r="r" b="b" t="t" l="l"/>
              <a:pathLst>
                <a:path h="922615" w="1695428">
                  <a:moveTo>
                    <a:pt x="30556" y="0"/>
                  </a:moveTo>
                  <a:lnTo>
                    <a:pt x="1664872" y="0"/>
                  </a:lnTo>
                  <a:cubicBezTo>
                    <a:pt x="1681748" y="0"/>
                    <a:pt x="1695428" y="13681"/>
                    <a:pt x="1695428" y="30556"/>
                  </a:cubicBezTo>
                  <a:lnTo>
                    <a:pt x="1695428" y="892059"/>
                  </a:lnTo>
                  <a:cubicBezTo>
                    <a:pt x="1695428" y="908934"/>
                    <a:pt x="1681748" y="922615"/>
                    <a:pt x="1664872" y="922615"/>
                  </a:cubicBezTo>
                  <a:lnTo>
                    <a:pt x="30556" y="922615"/>
                  </a:lnTo>
                  <a:cubicBezTo>
                    <a:pt x="13681" y="922615"/>
                    <a:pt x="0" y="908934"/>
                    <a:pt x="0" y="892059"/>
                  </a:cubicBezTo>
                  <a:lnTo>
                    <a:pt x="0" y="30556"/>
                  </a:lnTo>
                  <a:cubicBezTo>
                    <a:pt x="0" y="13681"/>
                    <a:pt x="13681" y="0"/>
                    <a:pt x="3055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257" r="0" b="-225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51393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74055" y="783477"/>
            <a:ext cx="12980456" cy="156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1"/>
              </a:lnSpc>
            </a:pPr>
            <a:r>
              <a:rPr lang="en-US" sz="6021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SIMULATION NGSPICE — FILTRE RC &amp; AMPLIFICATEUR OPÉRATIONNEL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83274" y="469152"/>
            <a:ext cx="75205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AOP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3332" y="2250176"/>
            <a:ext cx="760095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Before manufacturing the circuit, we simulated the behavior of the RC filter and the voltage follower using ngSPICE integrated in KiCAD (AOP file). The circuit includes: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 VPULSE source simulating the PWM signal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An RC filter with R = 5.6 kΩ and C = 1 µF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An op-amp as a voltage follower (gain = +1)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658350" y="7048221"/>
            <a:ext cx="76009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Résults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8137" y="7410171"/>
            <a:ext cx="7821163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TRAN simulation → exponential rise, reduced ripple ✓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AC Sweep → cutoff frequency fc ≈ 28 Hz, -20 dB/decade roll-off ✓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8061" y="4933392"/>
            <a:ext cx="8261589" cy="4324908"/>
            <a:chOff x="0" y="0"/>
            <a:chExt cx="1842787" cy="9646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2787" cy="964691"/>
            </a:xfrm>
            <a:custGeom>
              <a:avLst/>
              <a:gdLst/>
              <a:ahLst/>
              <a:cxnLst/>
              <a:rect r="r" b="b" t="t" l="l"/>
              <a:pathLst>
                <a:path h="964691" w="1842787">
                  <a:moveTo>
                    <a:pt x="28113" y="0"/>
                  </a:moveTo>
                  <a:lnTo>
                    <a:pt x="1814674" y="0"/>
                  </a:lnTo>
                  <a:cubicBezTo>
                    <a:pt x="1822130" y="0"/>
                    <a:pt x="1829281" y="2962"/>
                    <a:pt x="1834553" y="8234"/>
                  </a:cubicBezTo>
                  <a:cubicBezTo>
                    <a:pt x="1839825" y="13506"/>
                    <a:pt x="1842787" y="20657"/>
                    <a:pt x="1842787" y="28113"/>
                  </a:cubicBezTo>
                  <a:lnTo>
                    <a:pt x="1842787" y="936578"/>
                  </a:lnTo>
                  <a:cubicBezTo>
                    <a:pt x="1842787" y="952105"/>
                    <a:pt x="1830200" y="964691"/>
                    <a:pt x="1814674" y="964691"/>
                  </a:cubicBezTo>
                  <a:lnTo>
                    <a:pt x="28113" y="964691"/>
                  </a:lnTo>
                  <a:cubicBezTo>
                    <a:pt x="12587" y="964691"/>
                    <a:pt x="0" y="952105"/>
                    <a:pt x="0" y="936578"/>
                  </a:cubicBezTo>
                  <a:lnTo>
                    <a:pt x="0" y="28113"/>
                  </a:lnTo>
                  <a:cubicBezTo>
                    <a:pt x="0" y="12587"/>
                    <a:pt x="12587" y="0"/>
                    <a:pt x="28113" y="0"/>
                  </a:cubicBezTo>
                  <a:close/>
                </a:path>
              </a:pathLst>
            </a:custGeom>
            <a:blipFill>
              <a:blip r:embed="rId2"/>
              <a:stretch>
                <a:fillRect l="-4389" t="0" r="-438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58350" y="2481200"/>
            <a:ext cx="7600950" cy="4136271"/>
            <a:chOff x="0" y="0"/>
            <a:chExt cx="1695428" cy="9226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5428" cy="922615"/>
            </a:xfrm>
            <a:custGeom>
              <a:avLst/>
              <a:gdLst/>
              <a:ahLst/>
              <a:cxnLst/>
              <a:rect r="r" b="b" t="t" l="l"/>
              <a:pathLst>
                <a:path h="922615" w="1695428">
                  <a:moveTo>
                    <a:pt x="30556" y="0"/>
                  </a:moveTo>
                  <a:lnTo>
                    <a:pt x="1664872" y="0"/>
                  </a:lnTo>
                  <a:cubicBezTo>
                    <a:pt x="1681748" y="0"/>
                    <a:pt x="1695428" y="13681"/>
                    <a:pt x="1695428" y="30556"/>
                  </a:cubicBezTo>
                  <a:lnTo>
                    <a:pt x="1695428" y="892059"/>
                  </a:lnTo>
                  <a:cubicBezTo>
                    <a:pt x="1695428" y="908934"/>
                    <a:pt x="1681748" y="922615"/>
                    <a:pt x="1664872" y="922615"/>
                  </a:cubicBezTo>
                  <a:lnTo>
                    <a:pt x="30556" y="922615"/>
                  </a:lnTo>
                  <a:cubicBezTo>
                    <a:pt x="13681" y="922615"/>
                    <a:pt x="0" y="908934"/>
                    <a:pt x="0" y="892059"/>
                  </a:cubicBezTo>
                  <a:lnTo>
                    <a:pt x="0" y="30556"/>
                  </a:lnTo>
                  <a:cubicBezTo>
                    <a:pt x="0" y="13681"/>
                    <a:pt x="13681" y="0"/>
                    <a:pt x="30556" y="0"/>
                  </a:cubicBezTo>
                  <a:close/>
                </a:path>
              </a:pathLst>
            </a:custGeom>
            <a:blipFill>
              <a:blip r:embed="rId3"/>
              <a:stretch>
                <a:fillRect l="-6391" t="0" r="-6391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51393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99320" y="754902"/>
            <a:ext cx="12184445" cy="263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8"/>
              </a:lnSpc>
            </a:pPr>
            <a:r>
              <a:rPr lang="en-US" sz="5118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SIMULATION NGSPICE — SIMULATION DU RÉSONATEUR</a:t>
            </a:r>
          </a:p>
          <a:p>
            <a:pPr algn="l">
              <a:lnSpc>
                <a:spcPts val="5118"/>
              </a:lnSpc>
            </a:pPr>
          </a:p>
          <a:p>
            <a:pPr algn="l">
              <a:lnSpc>
                <a:spcPts val="511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609184" y="469152"/>
            <a:ext cx="202614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résonateur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3332" y="2240651"/>
            <a:ext cx="760095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The quartz is simulated using its Butterworth-Van Dyke model in ngSPICE (resonator circuit file). The circuit includes: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Motional branch R₁, L₁, C₂ in series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Static capacitance C₁ in parallel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Load resistance R₂ at the output"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658350" y="7048221"/>
            <a:ext cx="76009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7381875"/>
            <a:ext cx="7994187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Admittance peak at the series resonance frequency ✓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Notch at the anti-resonance frequency ✓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"By replacing R₂ with a variable capacitor (resonator circuit capa-legs file), the frequency pulling effect is observed: capacitance ↑ → peak shifts toward lower frequencies ✓"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7506" y="6672425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9" y="0"/>
                </a:lnTo>
                <a:lnTo>
                  <a:pt x="703699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02806" y="178037"/>
            <a:ext cx="7556494" cy="5374430"/>
            <a:chOff x="0" y="0"/>
            <a:chExt cx="1685512" cy="1198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5512" cy="1198792"/>
            </a:xfrm>
            <a:custGeom>
              <a:avLst/>
              <a:gdLst/>
              <a:ahLst/>
              <a:cxnLst/>
              <a:rect r="r" b="b" t="t" l="l"/>
              <a:pathLst>
                <a:path h="1198792" w="1685512">
                  <a:moveTo>
                    <a:pt x="30736" y="0"/>
                  </a:moveTo>
                  <a:lnTo>
                    <a:pt x="1654776" y="0"/>
                  </a:lnTo>
                  <a:cubicBezTo>
                    <a:pt x="1662928" y="0"/>
                    <a:pt x="1670746" y="3238"/>
                    <a:pt x="1676510" y="9002"/>
                  </a:cubicBezTo>
                  <a:cubicBezTo>
                    <a:pt x="1682274" y="14767"/>
                    <a:pt x="1685512" y="22584"/>
                    <a:pt x="1685512" y="30736"/>
                  </a:cubicBezTo>
                  <a:lnTo>
                    <a:pt x="1685512" y="1168056"/>
                  </a:lnTo>
                  <a:cubicBezTo>
                    <a:pt x="1685512" y="1185031"/>
                    <a:pt x="1671751" y="1198792"/>
                    <a:pt x="1654776" y="1198792"/>
                  </a:cubicBezTo>
                  <a:lnTo>
                    <a:pt x="30736" y="1198792"/>
                  </a:lnTo>
                  <a:cubicBezTo>
                    <a:pt x="22584" y="1198792"/>
                    <a:pt x="14767" y="1195554"/>
                    <a:pt x="9002" y="1189790"/>
                  </a:cubicBezTo>
                  <a:cubicBezTo>
                    <a:pt x="3238" y="1184026"/>
                    <a:pt x="0" y="1176208"/>
                    <a:pt x="0" y="1168056"/>
                  </a:cubicBezTo>
                  <a:lnTo>
                    <a:pt x="0" y="30736"/>
                  </a:lnTo>
                  <a:cubicBezTo>
                    <a:pt x="0" y="22584"/>
                    <a:pt x="3238" y="14767"/>
                    <a:pt x="9002" y="9002"/>
                  </a:cubicBezTo>
                  <a:cubicBezTo>
                    <a:pt x="14767" y="3238"/>
                    <a:pt x="22584" y="0"/>
                    <a:pt x="3073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725" r="0" b="-272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571740" y="6280627"/>
            <a:ext cx="5818625" cy="3543935"/>
            <a:chOff x="0" y="0"/>
            <a:chExt cx="2432206" cy="14813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2206" cy="1481378"/>
            </a:xfrm>
            <a:custGeom>
              <a:avLst/>
              <a:gdLst/>
              <a:ahLst/>
              <a:cxnLst/>
              <a:rect r="r" b="b" t="t" l="l"/>
              <a:pathLst>
                <a:path h="1481378" w="2432206">
                  <a:moveTo>
                    <a:pt x="39916" y="0"/>
                  </a:moveTo>
                  <a:lnTo>
                    <a:pt x="2392290" y="0"/>
                  </a:lnTo>
                  <a:cubicBezTo>
                    <a:pt x="2414335" y="0"/>
                    <a:pt x="2432206" y="17871"/>
                    <a:pt x="2432206" y="39916"/>
                  </a:cubicBezTo>
                  <a:lnTo>
                    <a:pt x="2432206" y="1441461"/>
                  </a:lnTo>
                  <a:cubicBezTo>
                    <a:pt x="2432206" y="1452048"/>
                    <a:pt x="2428001" y="1462201"/>
                    <a:pt x="2420515" y="1469686"/>
                  </a:cubicBezTo>
                  <a:cubicBezTo>
                    <a:pt x="2413029" y="1477172"/>
                    <a:pt x="2402876" y="1481378"/>
                    <a:pt x="2392290" y="1481378"/>
                  </a:cubicBezTo>
                  <a:lnTo>
                    <a:pt x="39916" y="1481378"/>
                  </a:lnTo>
                  <a:cubicBezTo>
                    <a:pt x="29330" y="1481378"/>
                    <a:pt x="19177" y="1477172"/>
                    <a:pt x="11691" y="1469686"/>
                  </a:cubicBezTo>
                  <a:cubicBezTo>
                    <a:pt x="4205" y="1462201"/>
                    <a:pt x="0" y="1452048"/>
                    <a:pt x="0" y="1441461"/>
                  </a:cubicBezTo>
                  <a:lnTo>
                    <a:pt x="0" y="39916"/>
                  </a:lnTo>
                  <a:cubicBezTo>
                    <a:pt x="0" y="29330"/>
                    <a:pt x="4205" y="19177"/>
                    <a:pt x="11691" y="11691"/>
                  </a:cubicBezTo>
                  <a:cubicBezTo>
                    <a:pt x="19177" y="4205"/>
                    <a:pt x="29330" y="0"/>
                    <a:pt x="3991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1569" r="0" b="-11569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08487" y="971763"/>
            <a:ext cx="8618244" cy="1459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5695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FREQUENCY PULLING MODELING — OCTAVE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8594" y="3633374"/>
            <a:ext cx="4297826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An Octave script drives ngSPICE automatically: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Varies the capacitances Cp1 and Cp2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Performs a frequency analysis each time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Extracts the frequency at the admittance peak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Stores the results in a solution(m,n,o) matrix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907198" y="7357269"/>
            <a:ext cx="4297826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capacité ↑ → fréquence ↓</a:t>
            </a: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Cette propriété confirme que la varicap peut corriger les dérives du quartz de manière précise et contrôlée.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907198" y="6824249"/>
            <a:ext cx="202614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143500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20778" y="2079181"/>
            <a:ext cx="7896572" cy="5225162"/>
            <a:chOff x="0" y="0"/>
            <a:chExt cx="3620313" cy="23955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20314" cy="2395562"/>
            </a:xfrm>
            <a:custGeom>
              <a:avLst/>
              <a:gdLst/>
              <a:ahLst/>
              <a:cxnLst/>
              <a:rect r="r" b="b" t="t" l="l"/>
              <a:pathLst>
                <a:path h="2395562" w="3620314">
                  <a:moveTo>
                    <a:pt x="29412" y="0"/>
                  </a:moveTo>
                  <a:lnTo>
                    <a:pt x="3590901" y="0"/>
                  </a:lnTo>
                  <a:cubicBezTo>
                    <a:pt x="3607145" y="0"/>
                    <a:pt x="3620314" y="13168"/>
                    <a:pt x="3620314" y="29412"/>
                  </a:cubicBezTo>
                  <a:lnTo>
                    <a:pt x="3620314" y="2366149"/>
                  </a:lnTo>
                  <a:cubicBezTo>
                    <a:pt x="3620314" y="2382393"/>
                    <a:pt x="3607145" y="2395562"/>
                    <a:pt x="3590901" y="2395562"/>
                  </a:cubicBezTo>
                  <a:lnTo>
                    <a:pt x="29412" y="2395562"/>
                  </a:lnTo>
                  <a:cubicBezTo>
                    <a:pt x="13168" y="2395562"/>
                    <a:pt x="0" y="2382393"/>
                    <a:pt x="0" y="2366149"/>
                  </a:cubicBezTo>
                  <a:lnTo>
                    <a:pt x="0" y="29412"/>
                  </a:lnTo>
                  <a:cubicBezTo>
                    <a:pt x="0" y="13168"/>
                    <a:pt x="13168" y="0"/>
                    <a:pt x="2941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316" r="0" b="-13316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219200"/>
            <a:ext cx="7914406" cy="258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57"/>
              </a:lnSpc>
            </a:pPr>
            <a:r>
              <a:rPr lang="en-US" sz="10057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CMS SOLDERING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4584" y="4644137"/>
            <a:ext cx="8316194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Soldering order followed: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USB first → verification of 5V and ground with multimeter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Passive components → resistors, capacitors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ATmega32U4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Through-hole components → buttons, connectors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55602" y="1028700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548800" y="3177858"/>
            <a:ext cx="5653443" cy="4786205"/>
            <a:chOff x="0" y="0"/>
            <a:chExt cx="1626625" cy="13771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6625" cy="1377101"/>
            </a:xfrm>
            <a:custGeom>
              <a:avLst/>
              <a:gdLst/>
              <a:ahLst/>
              <a:cxnLst/>
              <a:rect r="r" b="b" t="t" l="l"/>
              <a:pathLst>
                <a:path h="1377101" w="1626625">
                  <a:moveTo>
                    <a:pt x="41083" y="0"/>
                  </a:moveTo>
                  <a:lnTo>
                    <a:pt x="1585543" y="0"/>
                  </a:lnTo>
                  <a:cubicBezTo>
                    <a:pt x="1608232" y="0"/>
                    <a:pt x="1626625" y="18393"/>
                    <a:pt x="1626625" y="41083"/>
                  </a:cubicBezTo>
                  <a:lnTo>
                    <a:pt x="1626625" y="1336018"/>
                  </a:lnTo>
                  <a:cubicBezTo>
                    <a:pt x="1626625" y="1346914"/>
                    <a:pt x="1622297" y="1357364"/>
                    <a:pt x="1614593" y="1365068"/>
                  </a:cubicBezTo>
                  <a:cubicBezTo>
                    <a:pt x="1606888" y="1372773"/>
                    <a:pt x="1596439" y="1377101"/>
                    <a:pt x="1585543" y="1377101"/>
                  </a:cubicBezTo>
                  <a:lnTo>
                    <a:pt x="41083" y="1377101"/>
                  </a:lnTo>
                  <a:cubicBezTo>
                    <a:pt x="30187" y="1377101"/>
                    <a:pt x="19737" y="1372773"/>
                    <a:pt x="12033" y="1365068"/>
                  </a:cubicBezTo>
                  <a:cubicBezTo>
                    <a:pt x="4328" y="1357364"/>
                    <a:pt x="0" y="1346914"/>
                    <a:pt x="0" y="1336018"/>
                  </a:cubicBezTo>
                  <a:lnTo>
                    <a:pt x="0" y="41083"/>
                  </a:lnTo>
                  <a:cubicBezTo>
                    <a:pt x="0" y="30187"/>
                    <a:pt x="4328" y="19737"/>
                    <a:pt x="12033" y="12033"/>
                  </a:cubicBezTo>
                  <a:cubicBezTo>
                    <a:pt x="19737" y="4328"/>
                    <a:pt x="30187" y="0"/>
                    <a:pt x="4108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9059" r="0" b="-905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778856"/>
            <a:ext cx="8812273" cy="155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3"/>
              </a:lnSpc>
            </a:pPr>
            <a:r>
              <a:rPr lang="en-US" sz="5983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ATMEGA32U4 &amp; C PROGRAMMING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11950"/>
            <a:ext cx="3740679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Why this specific microcontroller 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83151"/>
            <a:ext cx="4667173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 i="true">
                <a:solidFill>
                  <a:srgbClr val="2D2D2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Native USB integrated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 i="true">
                <a:solidFill>
                  <a:srgbClr val="2D2D2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16-bit Timer 1 → Input Capture (1 PPS measurement)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 i="true">
                <a:solidFill>
                  <a:srgbClr val="2D2D2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10-bit Timer 4 → PWM (varicap control)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 i="true">
                <a:solidFill>
                  <a:srgbClr val="2D2D2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Pierce oscillator → quartz connected directly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0956" y="7639970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0956" y="0"/>
            <a:ext cx="5090878" cy="5623881"/>
            <a:chOff x="0" y="0"/>
            <a:chExt cx="1135545" cy="12544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5545" cy="1254434"/>
            </a:xfrm>
            <a:custGeom>
              <a:avLst/>
              <a:gdLst/>
              <a:ahLst/>
              <a:cxnLst/>
              <a:rect r="r" b="b" t="t" l="l"/>
              <a:pathLst>
                <a:path h="1254434" w="1135545">
                  <a:moveTo>
                    <a:pt x="45622" y="0"/>
                  </a:moveTo>
                  <a:lnTo>
                    <a:pt x="1089922" y="0"/>
                  </a:lnTo>
                  <a:cubicBezTo>
                    <a:pt x="1102022" y="0"/>
                    <a:pt x="1113626" y="4807"/>
                    <a:pt x="1122182" y="13362"/>
                  </a:cubicBezTo>
                  <a:cubicBezTo>
                    <a:pt x="1130738" y="21918"/>
                    <a:pt x="1135545" y="33523"/>
                    <a:pt x="1135545" y="45622"/>
                  </a:cubicBezTo>
                  <a:lnTo>
                    <a:pt x="1135545" y="1208811"/>
                  </a:lnTo>
                  <a:cubicBezTo>
                    <a:pt x="1135545" y="1220911"/>
                    <a:pt x="1130738" y="1232515"/>
                    <a:pt x="1122182" y="1241071"/>
                  </a:cubicBezTo>
                  <a:cubicBezTo>
                    <a:pt x="1113626" y="1249627"/>
                    <a:pt x="1102022" y="1254434"/>
                    <a:pt x="1089922" y="1254434"/>
                  </a:cubicBezTo>
                  <a:lnTo>
                    <a:pt x="45622" y="1254434"/>
                  </a:lnTo>
                  <a:cubicBezTo>
                    <a:pt x="33523" y="1254434"/>
                    <a:pt x="21918" y="1249627"/>
                    <a:pt x="13362" y="1241071"/>
                  </a:cubicBezTo>
                  <a:cubicBezTo>
                    <a:pt x="4807" y="1232515"/>
                    <a:pt x="0" y="1220911"/>
                    <a:pt x="0" y="1208811"/>
                  </a:cubicBezTo>
                  <a:lnTo>
                    <a:pt x="0" y="45622"/>
                  </a:lnTo>
                  <a:cubicBezTo>
                    <a:pt x="0" y="33523"/>
                    <a:pt x="4807" y="21918"/>
                    <a:pt x="13362" y="13362"/>
                  </a:cubicBezTo>
                  <a:cubicBezTo>
                    <a:pt x="21918" y="4807"/>
                    <a:pt x="33523" y="0"/>
                    <a:pt x="4562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48" r="0" b="-148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070533" y="428291"/>
            <a:ext cx="10804584" cy="207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6"/>
              </a:lnSpc>
            </a:pPr>
            <a:r>
              <a:rPr lang="en-US" sz="7966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PROGRAMMING — OUR FILES.C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0956" y="6603616"/>
            <a:ext cx="156288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our progs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558377" y="6839278"/>
            <a:ext cx="3512157" cy="2838450"/>
            <a:chOff x="0" y="0"/>
            <a:chExt cx="4682876" cy="37846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4682876" cy="708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true">
                  <a:solidFill>
                    <a:srgbClr val="2D2D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inputcap.c — Frequency mesurements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42975"/>
              <a:ext cx="3613941" cy="284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Idea: count the quartz cycles between 2 rising edges of 1 PPS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total = overflow_count * 65536 + (cap2 - cap1);</a:t>
              </a:r>
            </a:p>
            <a:p>
              <a:pPr algn="l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618533" y="6839278"/>
            <a:ext cx="3194454" cy="2038383"/>
            <a:chOff x="0" y="0"/>
            <a:chExt cx="4259272" cy="271784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4259272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true">
                  <a:solidFill>
                    <a:srgbClr val="2D2D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PWM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87419"/>
              <a:ext cx="3613941" cy="2130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Idea: simulate a DAC using a 10-bit PWM signal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OCR4D = value; // 0 to 1023 → 0V to 5V</a:t>
              </a:r>
            </a:p>
            <a:p>
              <a:pPr algn="l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22208" y="6839278"/>
            <a:ext cx="3246617" cy="2038383"/>
            <a:chOff x="0" y="0"/>
            <a:chExt cx="4328822" cy="271784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407" y="-47625"/>
              <a:ext cx="4328415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true">
                  <a:solidFill>
                    <a:srgbClr val="2D2D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PID.c —  PI Controller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87419"/>
              <a:ext cx="3613941" cy="2130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Idea: correct the frequency error every second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command = Kp * error + Ki * integral;</a:t>
              </a:r>
            </a:p>
            <a:p>
              <a:pPr algn="l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070533" y="2507065"/>
            <a:ext cx="7268395" cy="2038383"/>
            <a:chOff x="0" y="0"/>
            <a:chExt cx="9691193" cy="2717844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9691193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true">
                  <a:solidFill>
                    <a:srgbClr val="2D2D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 :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87419"/>
              <a:ext cx="8222859" cy="2130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The code is organized into several C files, each responsible for a specific task. The whole system runs on the ATmega32U4 and executes in real time, once per second, clocked by the 1 PPS signal. The complete source code is available on our GitHub repository: github.com/Mastene-CHAOUCHE/asservissement-num-rique-d-un-oscillateur-quartz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77552" y="814029"/>
            <a:ext cx="1332896" cy="1342661"/>
          </a:xfrm>
          <a:custGeom>
            <a:avLst/>
            <a:gdLst/>
            <a:ahLst/>
            <a:cxnLst/>
            <a:rect r="r" b="b" t="t" l="l"/>
            <a:pathLst>
              <a:path h="1342661" w="1332896">
                <a:moveTo>
                  <a:pt x="0" y="0"/>
                </a:moveTo>
                <a:lnTo>
                  <a:pt x="1332896" y="0"/>
                </a:lnTo>
                <a:lnTo>
                  <a:pt x="1332896" y="1342661"/>
                </a:lnTo>
                <a:lnTo>
                  <a:pt x="0" y="1342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3486" y="2509115"/>
            <a:ext cx="15501029" cy="96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8"/>
              </a:lnSpc>
              <a:spcBef>
                <a:spcPct val="0"/>
              </a:spcBef>
            </a:pPr>
            <a:r>
              <a:rPr lang="en-US" sz="5698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CO</a:t>
            </a:r>
            <a:r>
              <a:rPr lang="en-US" sz="5698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60208" y="3412110"/>
            <a:ext cx="7367585" cy="54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sz="3136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ATCE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91323" y="4089738"/>
            <a:ext cx="10135976" cy="388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project allowed us to design a complete GPSDO system, from theoretical analysis to microcontroller programming.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Takeways :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Quartz is stable in the short term but drifts → GPS corrects it in the long term SPICE simulation validates the circuit before manufacturing The varicap enables fine and controlled frequency adjustment The PI controller maintains the frequency within ±2 Hz of the setpoint SMD soldering requires method and patience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Going Further :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Use an oven-controlled oscillator (OCXO) Implement Allan variance to monitor the quality of the frequency source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024" y="2637494"/>
            <a:ext cx="11088158" cy="7423846"/>
            <a:chOff x="0" y="0"/>
            <a:chExt cx="2473267" cy="1655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267" cy="1655925"/>
            </a:xfrm>
            <a:custGeom>
              <a:avLst/>
              <a:gdLst/>
              <a:ahLst/>
              <a:cxnLst/>
              <a:rect r="r" b="b" t="t" l="l"/>
              <a:pathLst>
                <a:path h="1655925" w="2473267">
                  <a:moveTo>
                    <a:pt x="20946" y="0"/>
                  </a:moveTo>
                  <a:lnTo>
                    <a:pt x="2452321" y="0"/>
                  </a:lnTo>
                  <a:cubicBezTo>
                    <a:pt x="2463889" y="0"/>
                    <a:pt x="2473267" y="9378"/>
                    <a:pt x="2473267" y="20946"/>
                  </a:cubicBezTo>
                  <a:lnTo>
                    <a:pt x="2473267" y="1634978"/>
                  </a:lnTo>
                  <a:cubicBezTo>
                    <a:pt x="2473267" y="1646547"/>
                    <a:pt x="2463889" y="1655925"/>
                    <a:pt x="2452321" y="1655925"/>
                  </a:cubicBezTo>
                  <a:lnTo>
                    <a:pt x="20946" y="1655925"/>
                  </a:lnTo>
                  <a:cubicBezTo>
                    <a:pt x="9378" y="1655925"/>
                    <a:pt x="0" y="1646547"/>
                    <a:pt x="0" y="1634978"/>
                  </a:cubicBezTo>
                  <a:lnTo>
                    <a:pt x="0" y="20946"/>
                  </a:lnTo>
                  <a:cubicBezTo>
                    <a:pt x="0" y="9378"/>
                    <a:pt x="9378" y="0"/>
                    <a:pt x="2094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862" r="0" b="-286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855739" y="8001576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9" y="0"/>
                </a:lnTo>
                <a:lnTo>
                  <a:pt x="703699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082572" y="1027430"/>
            <a:ext cx="2166919" cy="2047861"/>
            <a:chOff x="0" y="0"/>
            <a:chExt cx="904217" cy="8545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4217" cy="854536"/>
            </a:xfrm>
            <a:custGeom>
              <a:avLst/>
              <a:gdLst/>
              <a:ahLst/>
              <a:cxnLst/>
              <a:rect r="r" b="b" t="t" l="l"/>
              <a:pathLst>
                <a:path h="854536" w="904217">
                  <a:moveTo>
                    <a:pt x="107183" y="0"/>
                  </a:moveTo>
                  <a:lnTo>
                    <a:pt x="797034" y="0"/>
                  </a:lnTo>
                  <a:cubicBezTo>
                    <a:pt x="856229" y="0"/>
                    <a:pt x="904217" y="47988"/>
                    <a:pt x="904217" y="107183"/>
                  </a:cubicBezTo>
                  <a:lnTo>
                    <a:pt x="904217" y="747353"/>
                  </a:lnTo>
                  <a:cubicBezTo>
                    <a:pt x="904217" y="775780"/>
                    <a:pt x="892924" y="803042"/>
                    <a:pt x="872824" y="823143"/>
                  </a:cubicBezTo>
                  <a:cubicBezTo>
                    <a:pt x="852723" y="843244"/>
                    <a:pt x="825460" y="854536"/>
                    <a:pt x="797034" y="854536"/>
                  </a:cubicBezTo>
                  <a:lnTo>
                    <a:pt x="107183" y="854536"/>
                  </a:lnTo>
                  <a:cubicBezTo>
                    <a:pt x="47988" y="854536"/>
                    <a:pt x="0" y="806549"/>
                    <a:pt x="0" y="747353"/>
                  </a:cubicBezTo>
                  <a:lnTo>
                    <a:pt x="0" y="107183"/>
                  </a:lnTo>
                  <a:cubicBezTo>
                    <a:pt x="0" y="78757"/>
                    <a:pt x="11292" y="51494"/>
                    <a:pt x="31393" y="31393"/>
                  </a:cubicBezTo>
                  <a:cubicBezTo>
                    <a:pt x="51494" y="11292"/>
                    <a:pt x="78757" y="0"/>
                    <a:pt x="10718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906" r="0" b="-290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95943" y="571870"/>
            <a:ext cx="14101582" cy="239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7"/>
              </a:lnSpc>
            </a:pPr>
            <a:r>
              <a:rPr lang="en-US" sz="9157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THANK YOU FOR YOUR ATTENTION!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20862" y="7791450"/>
            <a:ext cx="4528629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Do you have any questions? Feel free to ask, we are here to answer them!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30671" y="4178820"/>
            <a:ext cx="4528629" cy="2453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We would like to warmly thank our supervisors Prof. Jean-Michel Friedt and Prof. Emile Carry for their availability, guidance, and support throughout this project. All project resources are available on our GitHub repository: KiCAD schematics, simulation files, C source code, BOM and PCB. github.com/Mastene-CHAOUCHE/asservissement-num-rique-d-un-oscillateur-quartz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15137" y="8080011"/>
            <a:ext cx="4455310" cy="1367043"/>
            <a:chOff x="0" y="0"/>
            <a:chExt cx="1173415" cy="3600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3415" cy="360044"/>
            </a:xfrm>
            <a:custGeom>
              <a:avLst/>
              <a:gdLst/>
              <a:ahLst/>
              <a:cxnLst/>
              <a:rect r="r" b="b" t="t" l="l"/>
              <a:pathLst>
                <a:path h="360044" w="1173415">
                  <a:moveTo>
                    <a:pt x="86884" y="0"/>
                  </a:moveTo>
                  <a:lnTo>
                    <a:pt x="1086531" y="0"/>
                  </a:lnTo>
                  <a:cubicBezTo>
                    <a:pt x="1134516" y="0"/>
                    <a:pt x="1173415" y="38899"/>
                    <a:pt x="1173415" y="86884"/>
                  </a:cubicBezTo>
                  <a:lnTo>
                    <a:pt x="1173415" y="273160"/>
                  </a:lnTo>
                  <a:cubicBezTo>
                    <a:pt x="1173415" y="321145"/>
                    <a:pt x="1134516" y="360044"/>
                    <a:pt x="1086531" y="360044"/>
                  </a:cubicBezTo>
                  <a:lnTo>
                    <a:pt x="86884" y="360044"/>
                  </a:lnTo>
                  <a:cubicBezTo>
                    <a:pt x="38899" y="360044"/>
                    <a:pt x="0" y="321145"/>
                    <a:pt x="0" y="273160"/>
                  </a:cubicBezTo>
                  <a:lnTo>
                    <a:pt x="0" y="86884"/>
                  </a:lnTo>
                  <a:cubicBezTo>
                    <a:pt x="0" y="38899"/>
                    <a:pt x="38899" y="0"/>
                    <a:pt x="8688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3415" cy="398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D2D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encadre par :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D2D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Pr. Jean Michel Friedt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D2D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Pr. Emile Carry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477552" y="1028700"/>
            <a:ext cx="1332896" cy="1342661"/>
          </a:xfrm>
          <a:custGeom>
            <a:avLst/>
            <a:gdLst/>
            <a:ahLst/>
            <a:cxnLst/>
            <a:rect r="r" b="b" t="t" l="l"/>
            <a:pathLst>
              <a:path h="1342661" w="1332896">
                <a:moveTo>
                  <a:pt x="0" y="0"/>
                </a:moveTo>
                <a:lnTo>
                  <a:pt x="1332896" y="0"/>
                </a:lnTo>
                <a:lnTo>
                  <a:pt x="1332896" y="1342661"/>
                </a:lnTo>
                <a:lnTo>
                  <a:pt x="0" y="1342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93486" y="2509115"/>
            <a:ext cx="15501029" cy="1979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8"/>
              </a:lnSpc>
              <a:spcBef>
                <a:spcPct val="0"/>
              </a:spcBef>
            </a:pPr>
            <a:r>
              <a:rPr lang="en-US" sz="5698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 ASSERVISSE</a:t>
            </a:r>
            <a:r>
              <a:rPr lang="en-US" sz="5698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MENT NUMERIQUE D’UN OSCILLATEUR A QUARTZ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7247" y="4898475"/>
            <a:ext cx="3281753" cy="393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 par : </a:t>
            </a:r>
          </a:p>
          <a:p>
            <a:pPr algn="l">
              <a:lnSpc>
                <a:spcPts val="3148"/>
              </a:lnSpc>
            </a:pP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HEROUMI Yani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NEGRECHE Aaron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ATMANI Aymene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CHAOUCHE Mastene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BELAIDI Katia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ATAMNIA Mondher</a:t>
            </a:r>
          </a:p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314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306464" y="52601"/>
            <a:ext cx="11675071" cy="68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5"/>
              </a:lnSpc>
              <a:spcBef>
                <a:spcPct val="0"/>
              </a:spcBef>
            </a:pPr>
            <a:r>
              <a:rPr lang="en-US" sz="3932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UNIVERSITE MARIE &amp; LOUIS PASTEUR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502371" y="9062393"/>
            <a:ext cx="4156449" cy="769322"/>
            <a:chOff x="0" y="0"/>
            <a:chExt cx="1094703" cy="2026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4703" cy="202620"/>
            </a:xfrm>
            <a:custGeom>
              <a:avLst/>
              <a:gdLst/>
              <a:ahLst/>
              <a:cxnLst/>
              <a:rect r="r" b="b" t="t" l="l"/>
              <a:pathLst>
                <a:path h="202620" w="1094703">
                  <a:moveTo>
                    <a:pt x="93131" y="0"/>
                  </a:moveTo>
                  <a:lnTo>
                    <a:pt x="1001571" y="0"/>
                  </a:lnTo>
                  <a:cubicBezTo>
                    <a:pt x="1026271" y="0"/>
                    <a:pt x="1049960" y="9812"/>
                    <a:pt x="1067425" y="27278"/>
                  </a:cubicBezTo>
                  <a:cubicBezTo>
                    <a:pt x="1084891" y="44743"/>
                    <a:pt x="1094703" y="68431"/>
                    <a:pt x="1094703" y="93131"/>
                  </a:cubicBezTo>
                  <a:lnTo>
                    <a:pt x="1094703" y="109488"/>
                  </a:lnTo>
                  <a:cubicBezTo>
                    <a:pt x="1094703" y="134188"/>
                    <a:pt x="1084891" y="157877"/>
                    <a:pt x="1067425" y="175342"/>
                  </a:cubicBezTo>
                  <a:cubicBezTo>
                    <a:pt x="1049960" y="192808"/>
                    <a:pt x="1026271" y="202620"/>
                    <a:pt x="1001571" y="202620"/>
                  </a:cubicBezTo>
                  <a:lnTo>
                    <a:pt x="93131" y="202620"/>
                  </a:lnTo>
                  <a:cubicBezTo>
                    <a:pt x="68431" y="202620"/>
                    <a:pt x="44743" y="192808"/>
                    <a:pt x="27278" y="175342"/>
                  </a:cubicBezTo>
                  <a:cubicBezTo>
                    <a:pt x="9812" y="157877"/>
                    <a:pt x="0" y="134188"/>
                    <a:pt x="0" y="109488"/>
                  </a:cubicBezTo>
                  <a:lnTo>
                    <a:pt x="0" y="93131"/>
                  </a:lnTo>
                  <a:cubicBezTo>
                    <a:pt x="0" y="68431"/>
                    <a:pt x="9812" y="44743"/>
                    <a:pt x="27278" y="27278"/>
                  </a:cubicBezTo>
                  <a:cubicBezTo>
                    <a:pt x="44743" y="9812"/>
                    <a:pt x="68431" y="0"/>
                    <a:pt x="931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4703" cy="240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D2D2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Année universitaire  :  2025/2026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359000" y="4659885"/>
            <a:ext cx="7367585" cy="54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sz="3136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PROJET DE ATCE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6005" y="5520982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9" y="0"/>
                </a:lnTo>
                <a:lnTo>
                  <a:pt x="703699" y="703699"/>
                </a:lnTo>
                <a:lnTo>
                  <a:pt x="0" y="703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83751" y="1028700"/>
            <a:ext cx="9375549" cy="4540483"/>
            <a:chOff x="0" y="0"/>
            <a:chExt cx="2091261" cy="1012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1261" cy="1012777"/>
            </a:xfrm>
            <a:custGeom>
              <a:avLst/>
              <a:gdLst/>
              <a:ahLst/>
              <a:cxnLst/>
              <a:rect r="r" b="b" t="t" l="l"/>
              <a:pathLst>
                <a:path h="1012777" w="2091261">
                  <a:moveTo>
                    <a:pt x="24773" y="0"/>
                  </a:moveTo>
                  <a:lnTo>
                    <a:pt x="2066489" y="0"/>
                  </a:lnTo>
                  <a:cubicBezTo>
                    <a:pt x="2073059" y="0"/>
                    <a:pt x="2079360" y="2610"/>
                    <a:pt x="2084006" y="7256"/>
                  </a:cubicBezTo>
                  <a:cubicBezTo>
                    <a:pt x="2088651" y="11902"/>
                    <a:pt x="2091261" y="18203"/>
                    <a:pt x="2091261" y="24773"/>
                  </a:cubicBezTo>
                  <a:lnTo>
                    <a:pt x="2091261" y="988004"/>
                  </a:lnTo>
                  <a:cubicBezTo>
                    <a:pt x="2091261" y="994574"/>
                    <a:pt x="2088651" y="1000875"/>
                    <a:pt x="2084006" y="1005521"/>
                  </a:cubicBezTo>
                  <a:cubicBezTo>
                    <a:pt x="2079360" y="1010167"/>
                    <a:pt x="2073059" y="1012777"/>
                    <a:pt x="2066489" y="1012777"/>
                  </a:cubicBezTo>
                  <a:lnTo>
                    <a:pt x="24773" y="1012777"/>
                  </a:lnTo>
                  <a:cubicBezTo>
                    <a:pt x="18203" y="1012777"/>
                    <a:pt x="11902" y="1010167"/>
                    <a:pt x="7256" y="1005521"/>
                  </a:cubicBezTo>
                  <a:cubicBezTo>
                    <a:pt x="2610" y="1000875"/>
                    <a:pt x="0" y="994574"/>
                    <a:pt x="0" y="988004"/>
                  </a:cubicBezTo>
                  <a:lnTo>
                    <a:pt x="0" y="24773"/>
                  </a:lnTo>
                  <a:cubicBezTo>
                    <a:pt x="0" y="18203"/>
                    <a:pt x="2610" y="11902"/>
                    <a:pt x="7256" y="7256"/>
                  </a:cubicBezTo>
                  <a:cubicBezTo>
                    <a:pt x="11902" y="2610"/>
                    <a:pt x="18203" y="0"/>
                    <a:pt x="2477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042" r="0" b="-704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828701" y="6083533"/>
            <a:ext cx="4430599" cy="3174767"/>
            <a:chOff x="0" y="0"/>
            <a:chExt cx="988266" cy="7081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8267" cy="708147"/>
            </a:xfrm>
            <a:custGeom>
              <a:avLst/>
              <a:gdLst/>
              <a:ahLst/>
              <a:cxnLst/>
              <a:rect r="r" b="b" t="t" l="l"/>
              <a:pathLst>
                <a:path h="708147" w="988267">
                  <a:moveTo>
                    <a:pt x="52421" y="0"/>
                  </a:moveTo>
                  <a:lnTo>
                    <a:pt x="935845" y="0"/>
                  </a:lnTo>
                  <a:cubicBezTo>
                    <a:pt x="949748" y="0"/>
                    <a:pt x="963082" y="5523"/>
                    <a:pt x="972913" y="15354"/>
                  </a:cubicBezTo>
                  <a:cubicBezTo>
                    <a:pt x="982744" y="25185"/>
                    <a:pt x="988267" y="38518"/>
                    <a:pt x="988267" y="52421"/>
                  </a:cubicBezTo>
                  <a:lnTo>
                    <a:pt x="988267" y="655726"/>
                  </a:lnTo>
                  <a:cubicBezTo>
                    <a:pt x="988267" y="669629"/>
                    <a:pt x="982744" y="682962"/>
                    <a:pt x="972913" y="692793"/>
                  </a:cubicBezTo>
                  <a:cubicBezTo>
                    <a:pt x="963082" y="702624"/>
                    <a:pt x="949748" y="708147"/>
                    <a:pt x="935845" y="708147"/>
                  </a:cubicBezTo>
                  <a:lnTo>
                    <a:pt x="52421" y="708147"/>
                  </a:lnTo>
                  <a:cubicBezTo>
                    <a:pt x="38518" y="708147"/>
                    <a:pt x="25185" y="702624"/>
                    <a:pt x="15354" y="692793"/>
                  </a:cubicBezTo>
                  <a:cubicBezTo>
                    <a:pt x="5523" y="682962"/>
                    <a:pt x="0" y="669629"/>
                    <a:pt x="0" y="655726"/>
                  </a:cubicBezTo>
                  <a:lnTo>
                    <a:pt x="0" y="52421"/>
                  </a:lnTo>
                  <a:cubicBezTo>
                    <a:pt x="0" y="38518"/>
                    <a:pt x="5523" y="25185"/>
                    <a:pt x="15354" y="15354"/>
                  </a:cubicBezTo>
                  <a:cubicBezTo>
                    <a:pt x="25185" y="5523"/>
                    <a:pt x="38518" y="0"/>
                    <a:pt x="52421" y="0"/>
                  </a:cubicBezTo>
                  <a:close/>
                </a:path>
              </a:pathLst>
            </a:custGeom>
            <a:blipFill>
              <a:blip r:embed="rId5"/>
              <a:stretch>
                <a:fillRect l="-21655" t="0" r="-21655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883751" y="6083533"/>
            <a:ext cx="4430599" cy="3174767"/>
            <a:chOff x="0" y="0"/>
            <a:chExt cx="988266" cy="7081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8267" cy="708147"/>
            </a:xfrm>
            <a:custGeom>
              <a:avLst/>
              <a:gdLst/>
              <a:ahLst/>
              <a:cxnLst/>
              <a:rect r="r" b="b" t="t" l="l"/>
              <a:pathLst>
                <a:path h="708147" w="988267">
                  <a:moveTo>
                    <a:pt x="52421" y="0"/>
                  </a:moveTo>
                  <a:lnTo>
                    <a:pt x="935845" y="0"/>
                  </a:lnTo>
                  <a:cubicBezTo>
                    <a:pt x="949748" y="0"/>
                    <a:pt x="963082" y="5523"/>
                    <a:pt x="972913" y="15354"/>
                  </a:cubicBezTo>
                  <a:cubicBezTo>
                    <a:pt x="982744" y="25185"/>
                    <a:pt x="988267" y="38518"/>
                    <a:pt x="988267" y="52421"/>
                  </a:cubicBezTo>
                  <a:lnTo>
                    <a:pt x="988267" y="655726"/>
                  </a:lnTo>
                  <a:cubicBezTo>
                    <a:pt x="988267" y="669629"/>
                    <a:pt x="982744" y="682962"/>
                    <a:pt x="972913" y="692793"/>
                  </a:cubicBezTo>
                  <a:cubicBezTo>
                    <a:pt x="963082" y="702624"/>
                    <a:pt x="949748" y="708147"/>
                    <a:pt x="935845" y="708147"/>
                  </a:cubicBezTo>
                  <a:lnTo>
                    <a:pt x="52421" y="708147"/>
                  </a:lnTo>
                  <a:cubicBezTo>
                    <a:pt x="38518" y="708147"/>
                    <a:pt x="25185" y="702624"/>
                    <a:pt x="15354" y="692793"/>
                  </a:cubicBezTo>
                  <a:cubicBezTo>
                    <a:pt x="5523" y="682962"/>
                    <a:pt x="0" y="669629"/>
                    <a:pt x="0" y="655726"/>
                  </a:cubicBezTo>
                  <a:lnTo>
                    <a:pt x="0" y="52421"/>
                  </a:lnTo>
                  <a:cubicBezTo>
                    <a:pt x="0" y="38518"/>
                    <a:pt x="5523" y="25185"/>
                    <a:pt x="15354" y="15354"/>
                  </a:cubicBezTo>
                  <a:cubicBezTo>
                    <a:pt x="25185" y="5523"/>
                    <a:pt x="38518" y="0"/>
                    <a:pt x="52421" y="0"/>
                  </a:cubicBezTo>
                  <a:close/>
                </a:path>
              </a:pathLst>
            </a:custGeom>
            <a:blipFill>
              <a:blip r:embed="rId6"/>
              <a:stretch>
                <a:fillRect l="-3741" t="0" r="-374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769331"/>
            <a:ext cx="6855051" cy="128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4961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POURQUOI A-T-ON BESOIN D'UN GPSDO 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555925"/>
            <a:ext cx="634915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Le quartz est très utilisé en électronique car il est précis, petit et peu coûteux.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699366"/>
            <a:ext cx="5826351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Le GPS fournit une impulsion très précise chaque seconde : le signal 1 PPS (±100 ns).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→ Le quartz assure la stabilité court terme → Le GPS assure la précision long terme → En combinant les deux, on obtient une source de fréquence stable sur toutes les échelles de temps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558832"/>
            <a:ext cx="6349155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18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ais sa fréquence dérive avec la température (±800 Hz à 16 MHz), le vieillissement (~5 ppm/an) et</a:t>
            </a:r>
            <a:r>
              <a:rPr lang="en-US" sz="18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les vibrations mécaniques.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La solution idéale serait un oscillateur thermostaté (OCXO), mais son coût est trop élevé pour notre application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0247" y="6205631"/>
            <a:ext cx="634915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Notre approche : le GPSDO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55602" y="1028700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548800" y="3177858"/>
            <a:ext cx="5653443" cy="4786205"/>
            <a:chOff x="0" y="0"/>
            <a:chExt cx="1626625" cy="13771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6625" cy="1377101"/>
            </a:xfrm>
            <a:custGeom>
              <a:avLst/>
              <a:gdLst/>
              <a:ahLst/>
              <a:cxnLst/>
              <a:rect r="r" b="b" t="t" l="l"/>
              <a:pathLst>
                <a:path h="1377101" w="1626625">
                  <a:moveTo>
                    <a:pt x="41083" y="0"/>
                  </a:moveTo>
                  <a:lnTo>
                    <a:pt x="1585543" y="0"/>
                  </a:lnTo>
                  <a:cubicBezTo>
                    <a:pt x="1608232" y="0"/>
                    <a:pt x="1626625" y="18393"/>
                    <a:pt x="1626625" y="41083"/>
                  </a:cubicBezTo>
                  <a:lnTo>
                    <a:pt x="1626625" y="1336018"/>
                  </a:lnTo>
                  <a:cubicBezTo>
                    <a:pt x="1626625" y="1346914"/>
                    <a:pt x="1622297" y="1357364"/>
                    <a:pt x="1614593" y="1365068"/>
                  </a:cubicBezTo>
                  <a:cubicBezTo>
                    <a:pt x="1606888" y="1372773"/>
                    <a:pt x="1596439" y="1377101"/>
                    <a:pt x="1585543" y="1377101"/>
                  </a:cubicBezTo>
                  <a:lnTo>
                    <a:pt x="41083" y="1377101"/>
                  </a:lnTo>
                  <a:cubicBezTo>
                    <a:pt x="30187" y="1377101"/>
                    <a:pt x="19737" y="1372773"/>
                    <a:pt x="12033" y="1365068"/>
                  </a:cubicBezTo>
                  <a:cubicBezTo>
                    <a:pt x="4328" y="1357364"/>
                    <a:pt x="0" y="1346914"/>
                    <a:pt x="0" y="1336018"/>
                  </a:cubicBezTo>
                  <a:lnTo>
                    <a:pt x="0" y="41083"/>
                  </a:lnTo>
                  <a:cubicBezTo>
                    <a:pt x="0" y="30187"/>
                    <a:pt x="4328" y="19737"/>
                    <a:pt x="12033" y="12033"/>
                  </a:cubicBezTo>
                  <a:cubicBezTo>
                    <a:pt x="19737" y="4328"/>
                    <a:pt x="30187" y="0"/>
                    <a:pt x="41083" y="0"/>
                  </a:cubicBezTo>
                  <a:close/>
                </a:path>
              </a:pathLst>
            </a:custGeom>
            <a:blipFill>
              <a:blip r:embed="rId4"/>
              <a:stretch>
                <a:fillRect l="-10891" t="0" r="-1089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778856"/>
            <a:ext cx="10495329" cy="79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3"/>
              </a:lnSpc>
            </a:pPr>
            <a:r>
              <a:rPr lang="en-US" sz="5983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DÉROULEMENT DU PROJET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54317"/>
            <a:ext cx="37406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Contenu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358091"/>
            <a:ext cx="5247665" cy="2713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1 — Analyse théorique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2 — Conception du schéma (KiCAD)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3 — Choix des composants (BOM)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4 — Simulation SPICE (ngSPICE)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5 — Modélisation Octave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6 — Routage PCB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7 — Soudure CMS</a:t>
            </a:r>
          </a:p>
          <a:p>
            <a:pPr algn="l">
              <a:lnSpc>
                <a:spcPts val="2361"/>
              </a:lnSpc>
            </a:pPr>
            <a:r>
              <a:rPr lang="en-US" sz="168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8 — Programmation ATmega32U4</a:t>
            </a:r>
          </a:p>
          <a:p>
            <a:pPr algn="l">
              <a:lnSpc>
                <a:spcPts val="236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82533"/>
            <a:ext cx="4667173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i="true">
                <a:solidFill>
                  <a:srgbClr val="2D2D2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Dans ce projet, nous allons aborder de nombreux concepts acquis cette année : automatique et régulation PID, circuits analogiques, radiofréquences et programmation en C.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66109" y="1145541"/>
            <a:ext cx="4693191" cy="2846623"/>
            <a:chOff x="0" y="0"/>
            <a:chExt cx="1046839" cy="634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6839" cy="634953"/>
            </a:xfrm>
            <a:custGeom>
              <a:avLst/>
              <a:gdLst/>
              <a:ahLst/>
              <a:cxnLst/>
              <a:rect r="r" b="b" t="t" l="l"/>
              <a:pathLst>
                <a:path h="634953" w="1046839">
                  <a:moveTo>
                    <a:pt x="49488" y="0"/>
                  </a:moveTo>
                  <a:lnTo>
                    <a:pt x="997351" y="0"/>
                  </a:lnTo>
                  <a:cubicBezTo>
                    <a:pt x="1024682" y="0"/>
                    <a:pt x="1046839" y="22157"/>
                    <a:pt x="1046839" y="49488"/>
                  </a:cubicBezTo>
                  <a:lnTo>
                    <a:pt x="1046839" y="585465"/>
                  </a:lnTo>
                  <a:cubicBezTo>
                    <a:pt x="1046839" y="612796"/>
                    <a:pt x="1024682" y="634953"/>
                    <a:pt x="997351" y="634953"/>
                  </a:cubicBezTo>
                  <a:lnTo>
                    <a:pt x="49488" y="634953"/>
                  </a:lnTo>
                  <a:cubicBezTo>
                    <a:pt x="22157" y="634953"/>
                    <a:pt x="0" y="612796"/>
                    <a:pt x="0" y="585465"/>
                  </a:cubicBezTo>
                  <a:lnTo>
                    <a:pt x="0" y="49488"/>
                  </a:lnTo>
                  <a:cubicBezTo>
                    <a:pt x="0" y="22157"/>
                    <a:pt x="22157" y="0"/>
                    <a:pt x="4948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067" r="0" b="-606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214260" y="7344218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9"/>
                </a:lnTo>
                <a:lnTo>
                  <a:pt x="0" y="7036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0766" y="6133835"/>
            <a:ext cx="6551484" cy="3124465"/>
            <a:chOff x="0" y="0"/>
            <a:chExt cx="1461340" cy="6969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1340" cy="696927"/>
            </a:xfrm>
            <a:custGeom>
              <a:avLst/>
              <a:gdLst/>
              <a:ahLst/>
              <a:cxnLst/>
              <a:rect r="r" b="b" t="t" l="l"/>
              <a:pathLst>
                <a:path h="696927" w="1461340">
                  <a:moveTo>
                    <a:pt x="35451" y="0"/>
                  </a:moveTo>
                  <a:lnTo>
                    <a:pt x="1425889" y="0"/>
                  </a:lnTo>
                  <a:cubicBezTo>
                    <a:pt x="1435291" y="0"/>
                    <a:pt x="1444308" y="3735"/>
                    <a:pt x="1450957" y="10383"/>
                  </a:cubicBezTo>
                  <a:cubicBezTo>
                    <a:pt x="1457605" y="17032"/>
                    <a:pt x="1461340" y="26049"/>
                    <a:pt x="1461340" y="35451"/>
                  </a:cubicBezTo>
                  <a:lnTo>
                    <a:pt x="1461340" y="661476"/>
                  </a:lnTo>
                  <a:cubicBezTo>
                    <a:pt x="1461340" y="670878"/>
                    <a:pt x="1457605" y="679895"/>
                    <a:pt x="1450957" y="686544"/>
                  </a:cubicBezTo>
                  <a:cubicBezTo>
                    <a:pt x="1444308" y="693192"/>
                    <a:pt x="1435291" y="696927"/>
                    <a:pt x="1425889" y="696927"/>
                  </a:cubicBezTo>
                  <a:lnTo>
                    <a:pt x="35451" y="696927"/>
                  </a:lnTo>
                  <a:cubicBezTo>
                    <a:pt x="26049" y="696927"/>
                    <a:pt x="17032" y="693192"/>
                    <a:pt x="10383" y="686544"/>
                  </a:cubicBezTo>
                  <a:cubicBezTo>
                    <a:pt x="3735" y="679895"/>
                    <a:pt x="0" y="670878"/>
                    <a:pt x="0" y="661476"/>
                  </a:cubicBezTo>
                  <a:lnTo>
                    <a:pt x="0" y="35451"/>
                  </a:lnTo>
                  <a:cubicBezTo>
                    <a:pt x="0" y="26049"/>
                    <a:pt x="3735" y="17032"/>
                    <a:pt x="10383" y="10383"/>
                  </a:cubicBezTo>
                  <a:cubicBezTo>
                    <a:pt x="17032" y="3735"/>
                    <a:pt x="26049" y="0"/>
                    <a:pt x="35451" y="0"/>
                  </a:cubicBezTo>
                  <a:close/>
                </a:path>
              </a:pathLst>
            </a:custGeom>
            <a:blipFill>
              <a:blip r:embed="rId5"/>
              <a:stretch>
                <a:fillRect l="-207" t="0" r="-20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973016" y="5390885"/>
            <a:ext cx="421475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théorique — Comment ça marche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848" y="664692"/>
            <a:ext cx="10257922" cy="332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52"/>
              </a:lnSpc>
            </a:pPr>
            <a:r>
              <a:rPr lang="en-US" sz="12952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 LOGIQUE DU CIRCUIT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73016" y="6315075"/>
            <a:ext cx="4628792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Le quartz est modélisé électriquement par le schéma de Butterworth-Van Dyke (BVD) — il se comporte comme un circuit RLC très précis avec un facteur de qualité Q entre 30 000 et 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60 000.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Pour corriger sa fréquence on utilise une varicap : une diode dont la capacité change avec la tension appliquée.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capacité ↑ → fréquence ↓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249580" y="7134093"/>
            <a:ext cx="4628792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Le microcontrôleur compte les oscillations du quartz entre deux impulsions GPS (1 PPS) pour mesurer sa fréquence exacte, puis corrige via un régulateur PI.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96621" y="8554602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9" y="0"/>
                </a:lnTo>
                <a:lnTo>
                  <a:pt x="703699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7430"/>
            <a:ext cx="7671508" cy="6528410"/>
            <a:chOff x="0" y="0"/>
            <a:chExt cx="1711167" cy="14561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1167" cy="1456193"/>
            </a:xfrm>
            <a:custGeom>
              <a:avLst/>
              <a:gdLst/>
              <a:ahLst/>
              <a:cxnLst/>
              <a:rect r="r" b="b" t="t" l="l"/>
              <a:pathLst>
                <a:path h="1456193" w="1711167">
                  <a:moveTo>
                    <a:pt x="30275" y="0"/>
                  </a:moveTo>
                  <a:lnTo>
                    <a:pt x="1680892" y="0"/>
                  </a:lnTo>
                  <a:cubicBezTo>
                    <a:pt x="1688921" y="0"/>
                    <a:pt x="1696622" y="3190"/>
                    <a:pt x="1702299" y="8867"/>
                  </a:cubicBezTo>
                  <a:cubicBezTo>
                    <a:pt x="1707977" y="14545"/>
                    <a:pt x="1711167" y="22246"/>
                    <a:pt x="1711167" y="30275"/>
                  </a:cubicBezTo>
                  <a:lnTo>
                    <a:pt x="1711167" y="1425918"/>
                  </a:lnTo>
                  <a:cubicBezTo>
                    <a:pt x="1711167" y="1433947"/>
                    <a:pt x="1707977" y="1441648"/>
                    <a:pt x="1702299" y="1447326"/>
                  </a:cubicBezTo>
                  <a:cubicBezTo>
                    <a:pt x="1696622" y="1453004"/>
                    <a:pt x="1688921" y="1456193"/>
                    <a:pt x="1680892" y="1456193"/>
                  </a:cubicBezTo>
                  <a:lnTo>
                    <a:pt x="30275" y="1456193"/>
                  </a:lnTo>
                  <a:cubicBezTo>
                    <a:pt x="22246" y="1456193"/>
                    <a:pt x="14545" y="1453004"/>
                    <a:pt x="8867" y="1447326"/>
                  </a:cubicBezTo>
                  <a:cubicBezTo>
                    <a:pt x="3190" y="1441648"/>
                    <a:pt x="0" y="1433947"/>
                    <a:pt x="0" y="1425918"/>
                  </a:cubicBezTo>
                  <a:lnTo>
                    <a:pt x="0" y="30275"/>
                  </a:lnTo>
                  <a:cubicBezTo>
                    <a:pt x="0" y="22246"/>
                    <a:pt x="3190" y="14545"/>
                    <a:pt x="8867" y="8867"/>
                  </a:cubicBezTo>
                  <a:cubicBezTo>
                    <a:pt x="14545" y="3190"/>
                    <a:pt x="22246" y="0"/>
                    <a:pt x="30275" y="0"/>
                  </a:cubicBezTo>
                  <a:close/>
                </a:path>
              </a:pathLst>
            </a:custGeom>
            <a:blipFill>
              <a:blip r:embed="rId4"/>
              <a:stretch>
                <a:fillRect l="-5134" t="0" r="-5134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34323" y="7770127"/>
            <a:ext cx="9862298" cy="2386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4"/>
              </a:lnSpc>
            </a:pPr>
            <a:r>
              <a:rPr lang="en-US" sz="6224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ARCHITECTURE DU SYSTÈME &amp; CONCEPTION KICAD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90998" y="1348410"/>
            <a:ext cx="636830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Diagramme bloc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90998" y="1748460"/>
            <a:ext cx="452795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Le microcontrôleur est au cœur du système 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Reçoit le 1 PPS du GPS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Mesure la fréquence par Input Capture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Corrige via le régulateur PI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Commande la varicap via PWM filtré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890998" y="3843960"/>
            <a:ext cx="636830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Schéma électronique KiCAD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90998" y="4244010"/>
            <a:ext cx="6368302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Conçu sous KiCAD - le schéma regroupe 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Le filtre RC + suiveur 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Les condensateurs de découplage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Le T de polarisation de la varicap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796621" y="6080218"/>
            <a:ext cx="636830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Routage PCB &amp; composants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96621" y="6479515"/>
            <a:ext cx="6368302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Règles respectées lors du routage 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Quartz au plus près du MCU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Plan de masse en couche inférieure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8061" y="4933392"/>
            <a:ext cx="8261589" cy="4324908"/>
            <a:chOff x="0" y="0"/>
            <a:chExt cx="1842787" cy="9646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2787" cy="964691"/>
            </a:xfrm>
            <a:custGeom>
              <a:avLst/>
              <a:gdLst/>
              <a:ahLst/>
              <a:cxnLst/>
              <a:rect r="r" b="b" t="t" l="l"/>
              <a:pathLst>
                <a:path h="964691" w="1842787">
                  <a:moveTo>
                    <a:pt x="28113" y="0"/>
                  </a:moveTo>
                  <a:lnTo>
                    <a:pt x="1814674" y="0"/>
                  </a:lnTo>
                  <a:cubicBezTo>
                    <a:pt x="1822130" y="0"/>
                    <a:pt x="1829281" y="2962"/>
                    <a:pt x="1834553" y="8234"/>
                  </a:cubicBezTo>
                  <a:cubicBezTo>
                    <a:pt x="1839825" y="13506"/>
                    <a:pt x="1842787" y="20657"/>
                    <a:pt x="1842787" y="28113"/>
                  </a:cubicBezTo>
                  <a:lnTo>
                    <a:pt x="1842787" y="936578"/>
                  </a:lnTo>
                  <a:cubicBezTo>
                    <a:pt x="1842787" y="952105"/>
                    <a:pt x="1830200" y="964691"/>
                    <a:pt x="1814674" y="964691"/>
                  </a:cubicBezTo>
                  <a:lnTo>
                    <a:pt x="28113" y="964691"/>
                  </a:lnTo>
                  <a:cubicBezTo>
                    <a:pt x="12587" y="964691"/>
                    <a:pt x="0" y="952105"/>
                    <a:pt x="0" y="936578"/>
                  </a:cubicBezTo>
                  <a:lnTo>
                    <a:pt x="0" y="28113"/>
                  </a:lnTo>
                  <a:cubicBezTo>
                    <a:pt x="0" y="12587"/>
                    <a:pt x="12587" y="0"/>
                    <a:pt x="2811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322" r="0" b="-432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58350" y="2481200"/>
            <a:ext cx="7600950" cy="4136271"/>
            <a:chOff x="0" y="0"/>
            <a:chExt cx="1695428" cy="9226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5428" cy="922615"/>
            </a:xfrm>
            <a:custGeom>
              <a:avLst/>
              <a:gdLst/>
              <a:ahLst/>
              <a:cxnLst/>
              <a:rect r="r" b="b" t="t" l="l"/>
              <a:pathLst>
                <a:path h="922615" w="1695428">
                  <a:moveTo>
                    <a:pt x="30556" y="0"/>
                  </a:moveTo>
                  <a:lnTo>
                    <a:pt x="1664872" y="0"/>
                  </a:lnTo>
                  <a:cubicBezTo>
                    <a:pt x="1681748" y="0"/>
                    <a:pt x="1695428" y="13681"/>
                    <a:pt x="1695428" y="30556"/>
                  </a:cubicBezTo>
                  <a:lnTo>
                    <a:pt x="1695428" y="892059"/>
                  </a:lnTo>
                  <a:cubicBezTo>
                    <a:pt x="1695428" y="908934"/>
                    <a:pt x="1681748" y="922615"/>
                    <a:pt x="1664872" y="922615"/>
                  </a:cubicBezTo>
                  <a:lnTo>
                    <a:pt x="30556" y="922615"/>
                  </a:lnTo>
                  <a:cubicBezTo>
                    <a:pt x="13681" y="922615"/>
                    <a:pt x="0" y="908934"/>
                    <a:pt x="0" y="892059"/>
                  </a:cubicBezTo>
                  <a:lnTo>
                    <a:pt x="0" y="30556"/>
                  </a:lnTo>
                  <a:cubicBezTo>
                    <a:pt x="0" y="13681"/>
                    <a:pt x="13681" y="0"/>
                    <a:pt x="3055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257" r="0" b="-225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51393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74055" y="783477"/>
            <a:ext cx="12980456" cy="156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1"/>
              </a:lnSpc>
            </a:pPr>
            <a:r>
              <a:rPr lang="en-US" sz="6021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SIMULATION NGSPICE — FILTRE RC &amp; AMPLIFICATEUR OPÉRATIONNEL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83274" y="469152"/>
            <a:ext cx="75205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AOP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3332" y="2240651"/>
            <a:ext cx="760095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Avant de fabriquer le circuit nous avons simulé le comportement du filtre RC et du suiveur sous ngSPICE intégré dans KiCAD (fichier AOP).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Le circuit comprend 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Une source VPULSE simulant le signal PWM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Un filtre RC avec R = 5,6 kΩ et C = 1 µF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Un AOP en suiveur (gain = +1)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658350" y="7048221"/>
            <a:ext cx="76009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Résultats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8137" y="7410171"/>
            <a:ext cx="7821163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Simulation TRAN → montée exponentielle, ondulations réduites ✓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AC Sweep → fréquence de coupure fc ≈ 28 Hz, décroissance -20 dB/décade ✓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8061" y="4933392"/>
            <a:ext cx="8261589" cy="4324908"/>
            <a:chOff x="0" y="0"/>
            <a:chExt cx="1842787" cy="9646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2787" cy="964691"/>
            </a:xfrm>
            <a:custGeom>
              <a:avLst/>
              <a:gdLst/>
              <a:ahLst/>
              <a:cxnLst/>
              <a:rect r="r" b="b" t="t" l="l"/>
              <a:pathLst>
                <a:path h="964691" w="1842787">
                  <a:moveTo>
                    <a:pt x="28113" y="0"/>
                  </a:moveTo>
                  <a:lnTo>
                    <a:pt x="1814674" y="0"/>
                  </a:lnTo>
                  <a:cubicBezTo>
                    <a:pt x="1822130" y="0"/>
                    <a:pt x="1829281" y="2962"/>
                    <a:pt x="1834553" y="8234"/>
                  </a:cubicBezTo>
                  <a:cubicBezTo>
                    <a:pt x="1839825" y="13506"/>
                    <a:pt x="1842787" y="20657"/>
                    <a:pt x="1842787" y="28113"/>
                  </a:cubicBezTo>
                  <a:lnTo>
                    <a:pt x="1842787" y="936578"/>
                  </a:lnTo>
                  <a:cubicBezTo>
                    <a:pt x="1842787" y="952105"/>
                    <a:pt x="1830200" y="964691"/>
                    <a:pt x="1814674" y="964691"/>
                  </a:cubicBezTo>
                  <a:lnTo>
                    <a:pt x="28113" y="964691"/>
                  </a:lnTo>
                  <a:cubicBezTo>
                    <a:pt x="12587" y="964691"/>
                    <a:pt x="0" y="952105"/>
                    <a:pt x="0" y="936578"/>
                  </a:cubicBezTo>
                  <a:lnTo>
                    <a:pt x="0" y="28113"/>
                  </a:lnTo>
                  <a:cubicBezTo>
                    <a:pt x="0" y="12587"/>
                    <a:pt x="12587" y="0"/>
                    <a:pt x="28113" y="0"/>
                  </a:cubicBezTo>
                  <a:close/>
                </a:path>
              </a:pathLst>
            </a:custGeom>
            <a:blipFill>
              <a:blip r:embed="rId2"/>
              <a:stretch>
                <a:fillRect l="-4389" t="0" r="-438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58350" y="2481200"/>
            <a:ext cx="7600950" cy="4136271"/>
            <a:chOff x="0" y="0"/>
            <a:chExt cx="1695428" cy="9226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5428" cy="922615"/>
            </a:xfrm>
            <a:custGeom>
              <a:avLst/>
              <a:gdLst/>
              <a:ahLst/>
              <a:cxnLst/>
              <a:rect r="r" b="b" t="t" l="l"/>
              <a:pathLst>
                <a:path h="922615" w="1695428">
                  <a:moveTo>
                    <a:pt x="30556" y="0"/>
                  </a:moveTo>
                  <a:lnTo>
                    <a:pt x="1664872" y="0"/>
                  </a:lnTo>
                  <a:cubicBezTo>
                    <a:pt x="1681748" y="0"/>
                    <a:pt x="1695428" y="13681"/>
                    <a:pt x="1695428" y="30556"/>
                  </a:cubicBezTo>
                  <a:lnTo>
                    <a:pt x="1695428" y="892059"/>
                  </a:lnTo>
                  <a:cubicBezTo>
                    <a:pt x="1695428" y="908934"/>
                    <a:pt x="1681748" y="922615"/>
                    <a:pt x="1664872" y="922615"/>
                  </a:cubicBezTo>
                  <a:lnTo>
                    <a:pt x="30556" y="922615"/>
                  </a:lnTo>
                  <a:cubicBezTo>
                    <a:pt x="13681" y="922615"/>
                    <a:pt x="0" y="908934"/>
                    <a:pt x="0" y="892059"/>
                  </a:cubicBezTo>
                  <a:lnTo>
                    <a:pt x="0" y="30556"/>
                  </a:lnTo>
                  <a:cubicBezTo>
                    <a:pt x="0" y="13681"/>
                    <a:pt x="13681" y="0"/>
                    <a:pt x="30556" y="0"/>
                  </a:cubicBezTo>
                  <a:close/>
                </a:path>
              </a:pathLst>
            </a:custGeom>
            <a:blipFill>
              <a:blip r:embed="rId3"/>
              <a:stretch>
                <a:fillRect l="-6391" t="0" r="-6391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51393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99320" y="754902"/>
            <a:ext cx="12184445" cy="263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8"/>
              </a:lnSpc>
            </a:pPr>
            <a:r>
              <a:rPr lang="en-US" sz="5118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SIMULATION NGSPICE — SIMULATION DU RÉSONATEUR</a:t>
            </a:r>
          </a:p>
          <a:p>
            <a:pPr algn="l">
              <a:lnSpc>
                <a:spcPts val="5118"/>
              </a:lnSpc>
            </a:pPr>
          </a:p>
          <a:p>
            <a:pPr algn="l">
              <a:lnSpc>
                <a:spcPts val="511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609184" y="469152"/>
            <a:ext cx="202614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résonateur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3332" y="2240651"/>
            <a:ext cx="760095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Le quartz est simulé via son modèle Butterworth-Van Dyke sous ngSPICE (fichier resonator circuit).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Le circuit comprend 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Branche motionnelle R₁, L₁, C₂ en série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Capacité statique C₁ en parallèle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Rés</a:t>
            </a: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istance de charge R₂ en sortie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658350" y="7048221"/>
            <a:ext cx="76009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Résultats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65113" y="7048221"/>
            <a:ext cx="7994187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Pic d'admittance à la fréquence de résonance série ✓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Creux à la fréquence d'antirésonance ✓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En remplaçant R₂ par un condensateur variable (fichier resonator circuit capa-legs) on observe le tirage en fréquence :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capacité ↑ → pic se déplace vers les basses fréquences ✓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7506" y="6672425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9" y="0"/>
                </a:lnTo>
                <a:lnTo>
                  <a:pt x="703699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02806" y="178037"/>
            <a:ext cx="7556494" cy="5374430"/>
            <a:chOff x="0" y="0"/>
            <a:chExt cx="1685512" cy="1198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5512" cy="1198792"/>
            </a:xfrm>
            <a:custGeom>
              <a:avLst/>
              <a:gdLst/>
              <a:ahLst/>
              <a:cxnLst/>
              <a:rect r="r" b="b" t="t" l="l"/>
              <a:pathLst>
                <a:path h="1198792" w="1685512">
                  <a:moveTo>
                    <a:pt x="30736" y="0"/>
                  </a:moveTo>
                  <a:lnTo>
                    <a:pt x="1654776" y="0"/>
                  </a:lnTo>
                  <a:cubicBezTo>
                    <a:pt x="1662928" y="0"/>
                    <a:pt x="1670746" y="3238"/>
                    <a:pt x="1676510" y="9002"/>
                  </a:cubicBezTo>
                  <a:cubicBezTo>
                    <a:pt x="1682274" y="14767"/>
                    <a:pt x="1685512" y="22584"/>
                    <a:pt x="1685512" y="30736"/>
                  </a:cubicBezTo>
                  <a:lnTo>
                    <a:pt x="1685512" y="1168056"/>
                  </a:lnTo>
                  <a:cubicBezTo>
                    <a:pt x="1685512" y="1185031"/>
                    <a:pt x="1671751" y="1198792"/>
                    <a:pt x="1654776" y="1198792"/>
                  </a:cubicBezTo>
                  <a:lnTo>
                    <a:pt x="30736" y="1198792"/>
                  </a:lnTo>
                  <a:cubicBezTo>
                    <a:pt x="22584" y="1198792"/>
                    <a:pt x="14767" y="1195554"/>
                    <a:pt x="9002" y="1189790"/>
                  </a:cubicBezTo>
                  <a:cubicBezTo>
                    <a:pt x="3238" y="1184026"/>
                    <a:pt x="0" y="1176208"/>
                    <a:pt x="0" y="1168056"/>
                  </a:cubicBezTo>
                  <a:lnTo>
                    <a:pt x="0" y="30736"/>
                  </a:lnTo>
                  <a:cubicBezTo>
                    <a:pt x="0" y="22584"/>
                    <a:pt x="3238" y="14767"/>
                    <a:pt x="9002" y="9002"/>
                  </a:cubicBezTo>
                  <a:cubicBezTo>
                    <a:pt x="14767" y="3238"/>
                    <a:pt x="22584" y="0"/>
                    <a:pt x="3073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725" r="0" b="-272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571740" y="6280627"/>
            <a:ext cx="5818625" cy="3543935"/>
            <a:chOff x="0" y="0"/>
            <a:chExt cx="2432206" cy="14813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2206" cy="1481378"/>
            </a:xfrm>
            <a:custGeom>
              <a:avLst/>
              <a:gdLst/>
              <a:ahLst/>
              <a:cxnLst/>
              <a:rect r="r" b="b" t="t" l="l"/>
              <a:pathLst>
                <a:path h="1481378" w="2432206">
                  <a:moveTo>
                    <a:pt x="39916" y="0"/>
                  </a:moveTo>
                  <a:lnTo>
                    <a:pt x="2392290" y="0"/>
                  </a:lnTo>
                  <a:cubicBezTo>
                    <a:pt x="2414335" y="0"/>
                    <a:pt x="2432206" y="17871"/>
                    <a:pt x="2432206" y="39916"/>
                  </a:cubicBezTo>
                  <a:lnTo>
                    <a:pt x="2432206" y="1441461"/>
                  </a:lnTo>
                  <a:cubicBezTo>
                    <a:pt x="2432206" y="1452048"/>
                    <a:pt x="2428001" y="1462201"/>
                    <a:pt x="2420515" y="1469686"/>
                  </a:cubicBezTo>
                  <a:cubicBezTo>
                    <a:pt x="2413029" y="1477172"/>
                    <a:pt x="2402876" y="1481378"/>
                    <a:pt x="2392290" y="1481378"/>
                  </a:cubicBezTo>
                  <a:lnTo>
                    <a:pt x="39916" y="1481378"/>
                  </a:lnTo>
                  <a:cubicBezTo>
                    <a:pt x="29330" y="1481378"/>
                    <a:pt x="19177" y="1477172"/>
                    <a:pt x="11691" y="1469686"/>
                  </a:cubicBezTo>
                  <a:cubicBezTo>
                    <a:pt x="4205" y="1462201"/>
                    <a:pt x="0" y="1452048"/>
                    <a:pt x="0" y="1441461"/>
                  </a:cubicBezTo>
                  <a:lnTo>
                    <a:pt x="0" y="39916"/>
                  </a:lnTo>
                  <a:cubicBezTo>
                    <a:pt x="0" y="29330"/>
                    <a:pt x="4205" y="19177"/>
                    <a:pt x="11691" y="11691"/>
                  </a:cubicBezTo>
                  <a:cubicBezTo>
                    <a:pt x="19177" y="4205"/>
                    <a:pt x="29330" y="0"/>
                    <a:pt x="3991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1569" r="0" b="-11569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08487" y="971763"/>
            <a:ext cx="8618244" cy="217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5695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MODÉLISATION DU TIRAGE EN FRÉQUENCE — OCTAVE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8594" y="3633374"/>
            <a:ext cx="4297826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Un script Octave pilote ngSPICE automatiquement 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Fait varier les capacités Cp1 et Cp2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Effectue une analyse fréquentielle à chaque fois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Extrait la fréquence au maximum d'admittance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Stocke les résultats dans une matrice solution(m,n,o)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907198" y="7357269"/>
            <a:ext cx="4297826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capacité ↑ → fréquence ↓ 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Cette propriété confirme que la varicap peut corriger les dérives du quartz de manière précise et contrôlée.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907198" y="6824249"/>
            <a:ext cx="202614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: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143500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20778" y="2079181"/>
            <a:ext cx="7896572" cy="5225162"/>
            <a:chOff x="0" y="0"/>
            <a:chExt cx="3620313" cy="23955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20314" cy="2395562"/>
            </a:xfrm>
            <a:custGeom>
              <a:avLst/>
              <a:gdLst/>
              <a:ahLst/>
              <a:cxnLst/>
              <a:rect r="r" b="b" t="t" l="l"/>
              <a:pathLst>
                <a:path h="2395562" w="3620314">
                  <a:moveTo>
                    <a:pt x="29412" y="0"/>
                  </a:moveTo>
                  <a:lnTo>
                    <a:pt x="3590901" y="0"/>
                  </a:lnTo>
                  <a:cubicBezTo>
                    <a:pt x="3607145" y="0"/>
                    <a:pt x="3620314" y="13168"/>
                    <a:pt x="3620314" y="29412"/>
                  </a:cubicBezTo>
                  <a:lnTo>
                    <a:pt x="3620314" y="2366149"/>
                  </a:lnTo>
                  <a:cubicBezTo>
                    <a:pt x="3620314" y="2382393"/>
                    <a:pt x="3607145" y="2395562"/>
                    <a:pt x="3590901" y="2395562"/>
                  </a:cubicBezTo>
                  <a:lnTo>
                    <a:pt x="29412" y="2395562"/>
                  </a:lnTo>
                  <a:cubicBezTo>
                    <a:pt x="13168" y="2395562"/>
                    <a:pt x="0" y="2382393"/>
                    <a:pt x="0" y="2366149"/>
                  </a:cubicBezTo>
                  <a:lnTo>
                    <a:pt x="0" y="29412"/>
                  </a:lnTo>
                  <a:cubicBezTo>
                    <a:pt x="0" y="13168"/>
                    <a:pt x="13168" y="0"/>
                    <a:pt x="2941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316" r="0" b="-13316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219200"/>
            <a:ext cx="7914406" cy="258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57"/>
              </a:lnSpc>
            </a:pPr>
            <a:r>
              <a:rPr lang="en-US" sz="10057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SOUDURE CMS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4584" y="4644137"/>
            <a:ext cx="8316194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Ordre de soudure respecté :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USB en premier → vérification 5V et masse au multimètre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omposants passifs → résistances, condensateurs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ATmega32U4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5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omposants traversants → boutons, connecteurs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55602" y="1028700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548800" y="3177858"/>
            <a:ext cx="5653443" cy="4786205"/>
            <a:chOff x="0" y="0"/>
            <a:chExt cx="1626625" cy="13771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6625" cy="1377101"/>
            </a:xfrm>
            <a:custGeom>
              <a:avLst/>
              <a:gdLst/>
              <a:ahLst/>
              <a:cxnLst/>
              <a:rect r="r" b="b" t="t" l="l"/>
              <a:pathLst>
                <a:path h="1377101" w="1626625">
                  <a:moveTo>
                    <a:pt x="41083" y="0"/>
                  </a:moveTo>
                  <a:lnTo>
                    <a:pt x="1585543" y="0"/>
                  </a:lnTo>
                  <a:cubicBezTo>
                    <a:pt x="1608232" y="0"/>
                    <a:pt x="1626625" y="18393"/>
                    <a:pt x="1626625" y="41083"/>
                  </a:cubicBezTo>
                  <a:lnTo>
                    <a:pt x="1626625" y="1336018"/>
                  </a:lnTo>
                  <a:cubicBezTo>
                    <a:pt x="1626625" y="1346914"/>
                    <a:pt x="1622297" y="1357364"/>
                    <a:pt x="1614593" y="1365068"/>
                  </a:cubicBezTo>
                  <a:cubicBezTo>
                    <a:pt x="1606888" y="1372773"/>
                    <a:pt x="1596439" y="1377101"/>
                    <a:pt x="1585543" y="1377101"/>
                  </a:cubicBezTo>
                  <a:lnTo>
                    <a:pt x="41083" y="1377101"/>
                  </a:lnTo>
                  <a:cubicBezTo>
                    <a:pt x="30187" y="1377101"/>
                    <a:pt x="19737" y="1372773"/>
                    <a:pt x="12033" y="1365068"/>
                  </a:cubicBezTo>
                  <a:cubicBezTo>
                    <a:pt x="4328" y="1357364"/>
                    <a:pt x="0" y="1346914"/>
                    <a:pt x="0" y="1336018"/>
                  </a:cubicBezTo>
                  <a:lnTo>
                    <a:pt x="0" y="41083"/>
                  </a:lnTo>
                  <a:cubicBezTo>
                    <a:pt x="0" y="30187"/>
                    <a:pt x="4328" y="19737"/>
                    <a:pt x="12033" y="12033"/>
                  </a:cubicBezTo>
                  <a:cubicBezTo>
                    <a:pt x="19737" y="4328"/>
                    <a:pt x="30187" y="0"/>
                    <a:pt x="4108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9059" r="0" b="-905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778856"/>
            <a:ext cx="8812273" cy="155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3"/>
              </a:lnSpc>
            </a:pPr>
            <a:r>
              <a:rPr lang="en-US" sz="5983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ATMEGA32U4 &amp; PROGRAMMATION 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11950"/>
            <a:ext cx="3740679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Pourquoi ce microcontrôleur 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00375"/>
            <a:ext cx="4667173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 i="true">
                <a:solidFill>
                  <a:srgbClr val="2D2D2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USB natif intégré 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 i="true">
                <a:solidFill>
                  <a:srgbClr val="2D2D2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Timer 1 16 bits → Input Capture (mesure 1 PPS)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 i="true">
                <a:solidFill>
                  <a:srgbClr val="2D2D2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Timer 4 10 bits → PWM (commande varicap)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 i="true">
                <a:solidFill>
                  <a:srgbClr val="2D2D2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Oscillateur Pierce → quartz connecté directement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0956" y="7639970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8" y="0"/>
                </a:lnTo>
                <a:lnTo>
                  <a:pt x="703698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0956" y="0"/>
            <a:ext cx="5090878" cy="5623881"/>
            <a:chOff x="0" y="0"/>
            <a:chExt cx="1135545" cy="12544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5545" cy="1254434"/>
            </a:xfrm>
            <a:custGeom>
              <a:avLst/>
              <a:gdLst/>
              <a:ahLst/>
              <a:cxnLst/>
              <a:rect r="r" b="b" t="t" l="l"/>
              <a:pathLst>
                <a:path h="1254434" w="1135545">
                  <a:moveTo>
                    <a:pt x="45622" y="0"/>
                  </a:moveTo>
                  <a:lnTo>
                    <a:pt x="1089922" y="0"/>
                  </a:lnTo>
                  <a:cubicBezTo>
                    <a:pt x="1102022" y="0"/>
                    <a:pt x="1113626" y="4807"/>
                    <a:pt x="1122182" y="13362"/>
                  </a:cubicBezTo>
                  <a:cubicBezTo>
                    <a:pt x="1130738" y="21918"/>
                    <a:pt x="1135545" y="33523"/>
                    <a:pt x="1135545" y="45622"/>
                  </a:cubicBezTo>
                  <a:lnTo>
                    <a:pt x="1135545" y="1208811"/>
                  </a:lnTo>
                  <a:cubicBezTo>
                    <a:pt x="1135545" y="1220911"/>
                    <a:pt x="1130738" y="1232515"/>
                    <a:pt x="1122182" y="1241071"/>
                  </a:cubicBezTo>
                  <a:cubicBezTo>
                    <a:pt x="1113626" y="1249627"/>
                    <a:pt x="1102022" y="1254434"/>
                    <a:pt x="1089922" y="1254434"/>
                  </a:cubicBezTo>
                  <a:lnTo>
                    <a:pt x="45622" y="1254434"/>
                  </a:lnTo>
                  <a:cubicBezTo>
                    <a:pt x="33523" y="1254434"/>
                    <a:pt x="21918" y="1249627"/>
                    <a:pt x="13362" y="1241071"/>
                  </a:cubicBezTo>
                  <a:cubicBezTo>
                    <a:pt x="4807" y="1232515"/>
                    <a:pt x="0" y="1220911"/>
                    <a:pt x="0" y="1208811"/>
                  </a:cubicBezTo>
                  <a:lnTo>
                    <a:pt x="0" y="45622"/>
                  </a:lnTo>
                  <a:cubicBezTo>
                    <a:pt x="0" y="33523"/>
                    <a:pt x="4807" y="21918"/>
                    <a:pt x="13362" y="13362"/>
                  </a:cubicBezTo>
                  <a:cubicBezTo>
                    <a:pt x="21918" y="4807"/>
                    <a:pt x="33523" y="0"/>
                    <a:pt x="4562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48" r="0" b="-148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070533" y="428291"/>
            <a:ext cx="10804584" cy="207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6"/>
              </a:lnSpc>
            </a:pPr>
            <a:r>
              <a:rPr lang="en-US" sz="7966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PROGRAMMATION — NOS FICHIERS.C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0956" y="6603616"/>
            <a:ext cx="156288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NOS PROGS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558377" y="6839278"/>
            <a:ext cx="3512157" cy="2305050"/>
            <a:chOff x="0" y="0"/>
            <a:chExt cx="4682876" cy="30734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4682876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true">
                  <a:solidFill>
                    <a:srgbClr val="2D2D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inputcap.c — Mesure de fréquence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87375"/>
              <a:ext cx="3613941" cy="2486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Idée : compter les cycles du quartz entre 2 fronts 1 PPS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total = overflow_count * 65536 + (cap2 - cap1);</a:t>
              </a:r>
            </a:p>
            <a:p>
              <a:pPr algn="l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618533" y="6839278"/>
            <a:ext cx="3194454" cy="2038383"/>
            <a:chOff x="0" y="0"/>
            <a:chExt cx="4259272" cy="271784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4259272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true">
                  <a:solidFill>
                    <a:srgbClr val="2D2D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PWM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87419"/>
              <a:ext cx="3613941" cy="2130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Idée : simuler un DAC avec un signal PWM 10 bits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OCR4D = valeur; // 0 à 1023 → 0V à 5V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12683" y="6839278"/>
            <a:ext cx="3246617" cy="2305083"/>
            <a:chOff x="0" y="0"/>
            <a:chExt cx="4328822" cy="307344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407" y="-47625"/>
              <a:ext cx="4328415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true">
                  <a:solidFill>
                    <a:srgbClr val="2D2D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PID.c — Correcteur PI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87419"/>
              <a:ext cx="3613941" cy="2486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Idée : corriger l'erreur de fréquence à chaque seconde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commande = Kp * erreur + Ki * integrale;</a:t>
              </a:r>
            </a:p>
            <a:p>
              <a:pPr algn="l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070533" y="2507065"/>
            <a:ext cx="7268395" cy="2305083"/>
            <a:chOff x="0" y="0"/>
            <a:chExt cx="9691193" cy="3073444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9691193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true">
                  <a:solidFill>
                    <a:srgbClr val="2D2D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 :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87419"/>
              <a:ext cx="8222859" cy="2486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2D2D2D"/>
                  </a:solidFill>
                  <a:latin typeface="Poppins"/>
                  <a:ea typeface="Poppins"/>
                  <a:cs typeface="Poppins"/>
                  <a:sym typeface="Poppins"/>
                </a:rPr>
                <a:t>Le code est organisé en plusieurs fichiers C, chacun responsable d'une tâche précise. L'ensemble tourne sur l'ATmega32U4 et s'exécute en temps réel, une fois par seconde cadencé par le signal 1 PPS. L'ensemble du code source est disponible sur notre dépôt GitHub : github.com/Mastene-CHAOUCHE/asservissement-num-rique-d-un-oscillateur-quartz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77552" y="1028700"/>
            <a:ext cx="1332896" cy="1342661"/>
          </a:xfrm>
          <a:custGeom>
            <a:avLst/>
            <a:gdLst/>
            <a:ahLst/>
            <a:cxnLst/>
            <a:rect r="r" b="b" t="t" l="l"/>
            <a:pathLst>
              <a:path h="1342661" w="1332896">
                <a:moveTo>
                  <a:pt x="0" y="0"/>
                </a:moveTo>
                <a:lnTo>
                  <a:pt x="1332896" y="0"/>
                </a:lnTo>
                <a:lnTo>
                  <a:pt x="1332896" y="1342661"/>
                </a:lnTo>
                <a:lnTo>
                  <a:pt x="0" y="1342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3486" y="2509115"/>
            <a:ext cx="15501029" cy="96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8"/>
              </a:lnSpc>
              <a:spcBef>
                <a:spcPct val="0"/>
              </a:spcBef>
            </a:pPr>
            <a:r>
              <a:rPr lang="en-US" sz="5698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CO</a:t>
            </a:r>
            <a:r>
              <a:rPr lang="en-US" sz="5698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59000" y="3173521"/>
            <a:ext cx="7367585" cy="54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sz="3136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PROJET DE ATCE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76012" y="3898350"/>
            <a:ext cx="10135976" cy="388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 projet nous a permis de concevoir un système GPSDO complet, de l'analyse théorique jusqu'à la programmation du microcontrôleur.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 que nous avons retenu :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 quartz est stable à court terme mais dérive → le GPS corrige à long terme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simulation SPICE valide le circuit avant fabrication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varicap permet un réglage fin et contrôlé de la fréquence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 régulateur PI maintient la fréquence à ±2 Hz de la consigne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soudure CMS demande méthode et patience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Pour aller plus loin :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Utiliser un quartz thermostaté (OCXO)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Implémenter la variance d'Allan pour monitorer la qualité de la source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024" y="2637494"/>
            <a:ext cx="11088158" cy="7423846"/>
            <a:chOff x="0" y="0"/>
            <a:chExt cx="2473267" cy="1655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267" cy="1655925"/>
            </a:xfrm>
            <a:custGeom>
              <a:avLst/>
              <a:gdLst/>
              <a:ahLst/>
              <a:cxnLst/>
              <a:rect r="r" b="b" t="t" l="l"/>
              <a:pathLst>
                <a:path h="1655925" w="2473267">
                  <a:moveTo>
                    <a:pt x="20946" y="0"/>
                  </a:moveTo>
                  <a:lnTo>
                    <a:pt x="2452321" y="0"/>
                  </a:lnTo>
                  <a:cubicBezTo>
                    <a:pt x="2463889" y="0"/>
                    <a:pt x="2473267" y="9378"/>
                    <a:pt x="2473267" y="20946"/>
                  </a:cubicBezTo>
                  <a:lnTo>
                    <a:pt x="2473267" y="1634978"/>
                  </a:lnTo>
                  <a:cubicBezTo>
                    <a:pt x="2473267" y="1646547"/>
                    <a:pt x="2463889" y="1655925"/>
                    <a:pt x="2452321" y="1655925"/>
                  </a:cubicBezTo>
                  <a:lnTo>
                    <a:pt x="20946" y="1655925"/>
                  </a:lnTo>
                  <a:cubicBezTo>
                    <a:pt x="9378" y="1655925"/>
                    <a:pt x="0" y="1646547"/>
                    <a:pt x="0" y="1634978"/>
                  </a:cubicBezTo>
                  <a:lnTo>
                    <a:pt x="0" y="20946"/>
                  </a:lnTo>
                  <a:cubicBezTo>
                    <a:pt x="0" y="9378"/>
                    <a:pt x="9378" y="0"/>
                    <a:pt x="2094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862" r="0" b="-286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855739" y="8001576"/>
            <a:ext cx="703698" cy="703698"/>
          </a:xfrm>
          <a:custGeom>
            <a:avLst/>
            <a:gdLst/>
            <a:ahLst/>
            <a:cxnLst/>
            <a:rect r="r" b="b" t="t" l="l"/>
            <a:pathLst>
              <a:path h="703698" w="703698">
                <a:moveTo>
                  <a:pt x="0" y="0"/>
                </a:moveTo>
                <a:lnTo>
                  <a:pt x="703699" y="0"/>
                </a:lnTo>
                <a:lnTo>
                  <a:pt x="703699" y="703698"/>
                </a:lnTo>
                <a:lnTo>
                  <a:pt x="0" y="703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082572" y="1027430"/>
            <a:ext cx="2166919" cy="2047861"/>
            <a:chOff x="0" y="0"/>
            <a:chExt cx="904217" cy="8545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4217" cy="854536"/>
            </a:xfrm>
            <a:custGeom>
              <a:avLst/>
              <a:gdLst/>
              <a:ahLst/>
              <a:cxnLst/>
              <a:rect r="r" b="b" t="t" l="l"/>
              <a:pathLst>
                <a:path h="854536" w="904217">
                  <a:moveTo>
                    <a:pt x="107183" y="0"/>
                  </a:moveTo>
                  <a:lnTo>
                    <a:pt x="797034" y="0"/>
                  </a:lnTo>
                  <a:cubicBezTo>
                    <a:pt x="856229" y="0"/>
                    <a:pt x="904217" y="47988"/>
                    <a:pt x="904217" y="107183"/>
                  </a:cubicBezTo>
                  <a:lnTo>
                    <a:pt x="904217" y="747353"/>
                  </a:lnTo>
                  <a:cubicBezTo>
                    <a:pt x="904217" y="775780"/>
                    <a:pt x="892924" y="803042"/>
                    <a:pt x="872824" y="823143"/>
                  </a:cubicBezTo>
                  <a:cubicBezTo>
                    <a:pt x="852723" y="843244"/>
                    <a:pt x="825460" y="854536"/>
                    <a:pt x="797034" y="854536"/>
                  </a:cubicBezTo>
                  <a:lnTo>
                    <a:pt x="107183" y="854536"/>
                  </a:lnTo>
                  <a:cubicBezTo>
                    <a:pt x="47988" y="854536"/>
                    <a:pt x="0" y="806549"/>
                    <a:pt x="0" y="747353"/>
                  </a:cubicBezTo>
                  <a:lnTo>
                    <a:pt x="0" y="107183"/>
                  </a:lnTo>
                  <a:cubicBezTo>
                    <a:pt x="0" y="78757"/>
                    <a:pt x="11292" y="51494"/>
                    <a:pt x="31393" y="31393"/>
                  </a:cubicBezTo>
                  <a:cubicBezTo>
                    <a:pt x="51494" y="11292"/>
                    <a:pt x="78757" y="0"/>
                    <a:pt x="10718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906" r="0" b="-290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95943" y="571870"/>
            <a:ext cx="14101582" cy="239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7"/>
              </a:lnSpc>
            </a:pPr>
            <a:r>
              <a:rPr lang="en-US" sz="9157">
                <a:solidFill>
                  <a:srgbClr val="2D2D2D"/>
                </a:solidFill>
                <a:latin typeface="Hero Bold"/>
                <a:ea typeface="Hero Bold"/>
                <a:cs typeface="Hero Bold"/>
                <a:sym typeface="Hero Bold"/>
              </a:rPr>
              <a:t>THANK YOU FOR YOUR ATTENTION!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20862" y="7791450"/>
            <a:ext cx="4528629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Avez-vous des questions ? N'hésitez pas, nous sommes là pour y répondre !</a:t>
            </a: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730671" y="4178820"/>
            <a:ext cx="4528629" cy="367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Nous tenons à remercier chaleureusement nos encadrants Pr. Jean-Michel Friedt et Pr. Emile Carry pour leur disponibilité, leurs conseils et leur accompagnement tout au long de ce projet.</a:t>
            </a:r>
          </a:p>
          <a:p>
            <a:pPr algn="l">
              <a:lnSpc>
                <a:spcPts val="1920"/>
              </a:lnSpc>
            </a:pP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Toutes les ressources du projet sont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disponibles sur notre dépôt GitHub : schémas KiCAD, fichiers de simulation, code source C, BOM et PCB.</a:t>
            </a:r>
          </a:p>
          <a:p>
            <a:pPr algn="l">
              <a:lnSpc>
                <a:spcPts val="1920"/>
              </a:lnSpc>
            </a:pP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github.com/Mastene-CHAOUCHE/asservissement-num-rique-d-un-oscillateur-quartz</a:t>
            </a:r>
          </a:p>
          <a:p>
            <a:pPr algn="l">
              <a:lnSpc>
                <a:spcPts val="192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DAHFIH1e8Vo</dc:identifier>
  <dcterms:modified xsi:type="dcterms:W3CDTF">2011-08-01T06:04:30Z</dcterms:modified>
  <cp:revision>1</cp:revision>
  <dc:title>Green Modern Computing Evolution Presentation</dc:title>
</cp:coreProperties>
</file>